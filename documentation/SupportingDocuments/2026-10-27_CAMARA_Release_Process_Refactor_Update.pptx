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3"/>
  </p:sldMasterIdLst>
  <p:notesMasterIdLst>
    <p:notesMasterId r:id="rId12"/>
  </p:notesMasterIdLst>
  <p:sldIdLst>
    <p:sldId id="2058" r:id="rId4"/>
    <p:sldId id="2073" r:id="rId43"/>
    <p:sldId id="2061" r:id="rId5"/>
    <p:sldId id="2074" r:id="rId44"/>
    <p:sldId id="2075" r:id="rId45"/>
    <p:sldId id="2076" r:id="rId46"/>
    <p:sldId id="2077" r:id="rId47"/>
    <p:sldId id="2078" r:id="rId48"/>
    <p:sldId id="2079" r:id="rId49"/>
    <p:sldId id="2080" r:id="rId50"/>
    <p:sldId id="2081" r:id="rId51"/>
    <p:sldId id="2082" r:id="rId52"/>
    <p:sldId id="2083" r:id="rId53"/>
    <p:sldId id="2084" r:id="rId54"/>
    <p:sldId id="2057" r:id="rId11"/>
  </p:sldIdLst>
  <p:sldSz cx="11522075" cy="6484938"/>
  <p:notesSz cx="7315200" cy="12344400"/>
  <p:embeddedFontLst>
    <p:embeddedFont>
      <p:font typeface="FlexoSoft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  <p:embeddedFont>
      <p:font typeface="Montserrat ExtraBold" panose="00000900000000000000" pitchFamily="2" charset="0"/>
      <p:bold r:id="rId24"/>
      <p:italic r:id="rId25"/>
      <p:boldItalic r:id="rId26"/>
    </p:embeddedFont>
    <p:embeddedFont>
      <p:font typeface="Montserrat Light" panose="00000400000000000000" pitchFamily="2" charset="0"/>
      <p:regular r:id="rId27"/>
      <p: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Wingdings 2" panose="05020102010507070707" pitchFamily="18" charset="2"/>
      <p:regular r:id="rId33"/>
    </p:embeddedFont>
  </p:embeddedFontLst>
  <p:custDataLst>
    <p:tags r:id="rId3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C964C34-E9F5-4320-A6FA-D1BDB512744B}">
          <p14:sldIdLst>
            <p14:sldId id="2058"/>
            <p14:sldId id="2061"/>
            <p14:sldId id="2066"/>
            <p14:sldId id="2060"/>
            <p14:sldId id="2069"/>
            <p14:sldId id="2071"/>
            <p14:sldId id="2072"/>
            <p14:sldId id="20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" userDrawn="1">
          <p15:clr>
            <a:srgbClr val="A4A3A4"/>
          </p15:clr>
        </p15:guide>
        <p15:guide id="2" pos="182" userDrawn="1">
          <p15:clr>
            <a:srgbClr val="A4A3A4"/>
          </p15:clr>
        </p15:guide>
        <p15:guide id="3" pos="1832" userDrawn="1">
          <p15:clr>
            <a:srgbClr val="A4A3A4"/>
          </p15:clr>
        </p15:guide>
        <p15:guide id="4" pos="1927" userDrawn="1">
          <p15:clr>
            <a:srgbClr val="A4A3A4"/>
          </p15:clr>
        </p15:guide>
        <p15:guide id="5" pos="3584" userDrawn="1">
          <p15:clr>
            <a:srgbClr val="A4A3A4"/>
          </p15:clr>
        </p15:guide>
        <p15:guide id="6" pos="3672" userDrawn="1">
          <p15:clr>
            <a:srgbClr val="A4A3A4"/>
          </p15:clr>
        </p15:guide>
        <p15:guide id="7" pos="5328" userDrawn="1">
          <p15:clr>
            <a:srgbClr val="A4A3A4"/>
          </p15:clr>
        </p15:guide>
        <p15:guide id="8" pos="5419" userDrawn="1">
          <p15:clr>
            <a:srgbClr val="A4A3A4"/>
          </p15:clr>
        </p15:guide>
        <p15:guide id="9" pos="7075" userDrawn="1">
          <p15:clr>
            <a:srgbClr val="A4A3A4"/>
          </p15:clr>
        </p15:guide>
        <p15:guide id="10" orient="horz" pos="322" userDrawn="1">
          <p15:clr>
            <a:srgbClr val="A4A3A4"/>
          </p15:clr>
        </p15:guide>
        <p15:guide id="11" orient="horz" pos="741" userDrawn="1">
          <p15:clr>
            <a:srgbClr val="A4A3A4"/>
          </p15:clr>
        </p15:guide>
        <p15:guide id="12" orient="horz" pos="1013" userDrawn="1">
          <p15:clr>
            <a:srgbClr val="A4A3A4"/>
          </p15:clr>
        </p15:guide>
        <p15:guide id="13" orient="horz" pos="3678" userDrawn="1">
          <p15:clr>
            <a:srgbClr val="A4A3A4"/>
          </p15:clr>
        </p15:guide>
        <p15:guide id="14" orient="horz" pos="3811" userDrawn="1">
          <p15:clr>
            <a:srgbClr val="A4A3A4"/>
          </p15:clr>
        </p15:guide>
        <p15:guide id="15" orient="horz" pos="39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E91F4C-DE4E-5E21-1782-0370BBF3D1F5}" name="Damker, Herbert" initials="HD" userId="S::Herbert.Damker@telekom.de::37ff36be-0e4d-42c3-ac06-7b904f0f6b24" providerId="AD"/>
  <p188:author id="{664133A9-D536-815A-34EC-B9961CC03EE9}" name="Tanja De Groot (Nokia)" initials="TD" userId="S::tanja.de_groot@nokia.com::01a78cc0-88b1-4873-a238-25bec9db6e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BF3"/>
    <a:srgbClr val="122769"/>
    <a:srgbClr val="014651"/>
    <a:srgbClr val="000620"/>
    <a:srgbClr val="004750"/>
    <a:srgbClr val="37FFFD"/>
    <a:srgbClr val="FFFFFF"/>
    <a:srgbClr val="A4A4A4"/>
    <a:srgbClr val="32B9AF"/>
    <a:srgbClr val="00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1D2C2-F596-4FBF-9545-8A20B4AD3CE4}" v="6" dt="2026-03-05T17:11:37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78"/>
    <p:restoredTop sz="94987" autoAdjust="0"/>
  </p:normalViewPr>
  <p:slideViewPr>
    <p:cSldViewPr snapToGrid="0">
      <p:cViewPr varScale="1">
        <p:scale>
          <a:sx n="86" d="100"/>
          <a:sy n="86" d="100"/>
        </p:scale>
        <p:origin x="782" y="106"/>
      </p:cViewPr>
      <p:guideLst>
        <p:guide orient="horz" pos="227"/>
        <p:guide pos="182"/>
        <p:guide pos="1832"/>
        <p:guide pos="1927"/>
        <p:guide pos="3584"/>
        <p:guide pos="3672"/>
        <p:guide pos="5328"/>
        <p:guide pos="5419"/>
        <p:guide pos="7075"/>
        <p:guide orient="horz" pos="322"/>
        <p:guide orient="horz" pos="741"/>
        <p:guide orient="horz" pos="1013"/>
        <p:guide orient="horz" pos="3678"/>
        <p:guide orient="horz" pos="3811"/>
        <p:guide orient="horz" pos="39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font" Target="fonts/font13.fntdata"/><Relationship Id="rId26" Type="http://schemas.openxmlformats.org/officeDocument/2006/relationships/font" Target="fonts/font14.fntdata"/><Relationship Id="rId27" Type="http://schemas.openxmlformats.org/officeDocument/2006/relationships/font" Target="fonts/font15.fntdata"/><Relationship Id="rId28" Type="http://schemas.openxmlformats.org/officeDocument/2006/relationships/font" Target="fonts/font16.fntdata"/><Relationship Id="rId29" Type="http://schemas.openxmlformats.org/officeDocument/2006/relationships/font" Target="fonts/font17.fntdata"/><Relationship Id="rId30" Type="http://schemas.openxmlformats.org/officeDocument/2006/relationships/font" Target="fonts/font18.fntdata"/><Relationship Id="rId31" Type="http://schemas.openxmlformats.org/officeDocument/2006/relationships/font" Target="fonts/font19.fntdata"/><Relationship Id="rId32" Type="http://schemas.openxmlformats.org/officeDocument/2006/relationships/font" Target="fonts/font20.fntdata"/><Relationship Id="rId33" Type="http://schemas.openxmlformats.org/officeDocument/2006/relationships/font" Target="fonts/font21.fntdata"/><Relationship Id="rId34" Type="http://schemas.openxmlformats.org/officeDocument/2006/relationships/tags" Target="tags/tag1.xml"/><Relationship Id="rId35" Type="http://schemas.openxmlformats.org/officeDocument/2006/relationships/commentAuthors" Target="commentAuthors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Relationship Id="rId41" Type="http://schemas.microsoft.com/office/2015/10/relationships/revisionInfo" Target="revisionInfo.xml"/><Relationship Id="rId42" Type="http://schemas.microsoft.com/office/2018/10/relationships/authors" Target="authors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7" Type="http://schemas.openxmlformats.org/officeDocument/2006/relationships/slide" Target="slides/slide13.xml"/><Relationship Id="rId48" Type="http://schemas.openxmlformats.org/officeDocument/2006/relationships/slide" Target="slides/slide14.xml"/><Relationship Id="rId49" Type="http://schemas.openxmlformats.org/officeDocument/2006/relationships/slide" Target="slides/slide15.xml"/><Relationship Id="rId50" Type="http://schemas.openxmlformats.org/officeDocument/2006/relationships/slide" Target="slides/slide16.xml"/><Relationship Id="rId51" Type="http://schemas.openxmlformats.org/officeDocument/2006/relationships/slide" Target="slides/slide17.xml"/><Relationship Id="rId52" Type="http://schemas.openxmlformats.org/officeDocument/2006/relationships/slide" Target="slides/slide18.xml"/><Relationship Id="rId53" Type="http://schemas.openxmlformats.org/officeDocument/2006/relationships/slide" Target="slides/slide19.xml"/><Relationship Id="rId54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ja De Groot (Nokia)" userId="01a78cc0-88b1-4873-a238-25bec9db6e06" providerId="ADAL" clId="{33AC5DB6-6098-4BA1-9615-8D690C6D0FD5}"/>
    <pc:docChg chg="custSel addSld delSld modSld modSection">
      <pc:chgData name="Tanja De Groot (Nokia)" userId="01a78cc0-88b1-4873-a238-25bec9db6e06" providerId="ADAL" clId="{33AC5DB6-6098-4BA1-9615-8D690C6D0FD5}" dt="2026-03-09T11:00:53.595" v="2487" actId="20577"/>
      <pc:docMkLst>
        <pc:docMk/>
      </pc:docMkLst>
      <pc:sldChg chg="modSp mod">
        <pc:chgData name="Tanja De Groot (Nokia)" userId="01a78cc0-88b1-4873-a238-25bec9db6e06" providerId="ADAL" clId="{33AC5DB6-6098-4BA1-9615-8D690C6D0FD5}" dt="2026-03-04T18:00:46.796" v="0" actId="20577"/>
        <pc:sldMkLst>
          <pc:docMk/>
          <pc:sldMk cId="1929345456" sldId="2057"/>
        </pc:sldMkLst>
        <pc:spChg chg="mod">
          <ac:chgData name="Tanja De Groot (Nokia)" userId="01a78cc0-88b1-4873-a238-25bec9db6e06" providerId="ADAL" clId="{33AC5DB6-6098-4BA1-9615-8D690C6D0FD5}" dt="2026-03-04T18:00:46.796" v="0" actId="20577"/>
          <ac:spMkLst>
            <pc:docMk/>
            <pc:sldMk cId="1929345456" sldId="2057"/>
            <ac:spMk id="2" creationId="{6566B094-40C3-D341-70A6-77319CB777DC}"/>
          </ac:spMkLst>
        </pc:spChg>
      </pc:sldChg>
      <pc:sldChg chg="modSp mod">
        <pc:chgData name="Tanja De Groot (Nokia)" userId="01a78cc0-88b1-4873-a238-25bec9db6e06" providerId="ADAL" clId="{33AC5DB6-6098-4BA1-9615-8D690C6D0FD5}" dt="2026-03-05T14:56:51.507" v="844" actId="1038"/>
        <pc:sldMkLst>
          <pc:docMk/>
          <pc:sldMk cId="0" sldId="2060"/>
        </pc:sldMkLst>
        <pc:picChg chg="mod">
          <ac:chgData name="Tanja De Groot (Nokia)" userId="01a78cc0-88b1-4873-a238-25bec9db6e06" providerId="ADAL" clId="{33AC5DB6-6098-4BA1-9615-8D690C6D0FD5}" dt="2026-03-05T14:56:51.507" v="844" actId="1038"/>
          <ac:picMkLst>
            <pc:docMk/>
            <pc:sldMk cId="0" sldId="2060"/>
            <ac:picMk id="5" creationId="{30261930-C0C7-F5CB-51BE-9BDDCE71D085}"/>
          </ac:picMkLst>
        </pc:picChg>
        <pc:picChg chg="mod">
          <ac:chgData name="Tanja De Groot (Nokia)" userId="01a78cc0-88b1-4873-a238-25bec9db6e06" providerId="ADAL" clId="{33AC5DB6-6098-4BA1-9615-8D690C6D0FD5}" dt="2026-03-05T14:56:34.559" v="787" actId="12789"/>
          <ac:picMkLst>
            <pc:docMk/>
            <pc:sldMk cId="0" sldId="2060"/>
            <ac:picMk id="9" creationId="{BF16BCD0-2792-F3B9-4EB7-252B5D68B3F9}"/>
          </ac:picMkLst>
        </pc:picChg>
        <pc:picChg chg="mod">
          <ac:chgData name="Tanja De Groot (Nokia)" userId="01a78cc0-88b1-4873-a238-25bec9db6e06" providerId="ADAL" clId="{33AC5DB6-6098-4BA1-9615-8D690C6D0FD5}" dt="2026-03-05T14:56:44.941" v="817" actId="1037"/>
          <ac:picMkLst>
            <pc:docMk/>
            <pc:sldMk cId="0" sldId="2060"/>
            <ac:picMk id="11" creationId="{09B55519-7ABB-B711-3BA1-3FCBA15F154F}"/>
          </ac:picMkLst>
        </pc:picChg>
      </pc:sldChg>
      <pc:sldChg chg="modSp mod">
        <pc:chgData name="Tanja De Groot (Nokia)" userId="01a78cc0-88b1-4873-a238-25bec9db6e06" providerId="ADAL" clId="{33AC5DB6-6098-4BA1-9615-8D690C6D0FD5}" dt="2026-03-05T10:36:56.437" v="446" actId="2711"/>
        <pc:sldMkLst>
          <pc:docMk/>
          <pc:sldMk cId="4230243161" sldId="2069"/>
        </pc:sldMkLst>
        <pc:spChg chg="mod">
          <ac:chgData name="Tanja De Groot (Nokia)" userId="01a78cc0-88b1-4873-a238-25bec9db6e06" providerId="ADAL" clId="{33AC5DB6-6098-4BA1-9615-8D690C6D0FD5}" dt="2026-03-05T10:36:56.437" v="446" actId="2711"/>
          <ac:spMkLst>
            <pc:docMk/>
            <pc:sldMk cId="4230243161" sldId="2069"/>
            <ac:spMk id="2" creationId="{552E0ECA-7ABF-418D-1E32-EE8D5E58B10D}"/>
          </ac:spMkLst>
        </pc:spChg>
      </pc:sldChg>
      <pc:sldChg chg="modSp add mod">
        <pc:chgData name="Tanja De Groot (Nokia)" userId="01a78cc0-88b1-4873-a238-25bec9db6e06" providerId="ADAL" clId="{33AC5DB6-6098-4BA1-9615-8D690C6D0FD5}" dt="2026-03-05T11:47:02.199" v="785" actId="20577"/>
        <pc:sldMkLst>
          <pc:docMk/>
          <pc:sldMk cId="140848334" sldId="2071"/>
        </pc:sldMkLst>
        <pc:spChg chg="mod">
          <ac:chgData name="Tanja De Groot (Nokia)" userId="01a78cc0-88b1-4873-a238-25bec9db6e06" providerId="ADAL" clId="{33AC5DB6-6098-4BA1-9615-8D690C6D0FD5}" dt="2026-03-05T11:29:09.458" v="453"/>
          <ac:spMkLst>
            <pc:docMk/>
            <pc:sldMk cId="140848334" sldId="2071"/>
            <ac:spMk id="2" creationId="{DEBF2C87-0300-E209-42E9-55167160743A}"/>
          </ac:spMkLst>
        </pc:spChg>
        <pc:spChg chg="mod">
          <ac:chgData name="Tanja De Groot (Nokia)" userId="01a78cc0-88b1-4873-a238-25bec9db6e06" providerId="ADAL" clId="{33AC5DB6-6098-4BA1-9615-8D690C6D0FD5}" dt="2026-03-05T11:47:02.199" v="785" actId="20577"/>
          <ac:spMkLst>
            <pc:docMk/>
            <pc:sldMk cId="140848334" sldId="2071"/>
            <ac:spMk id="3" creationId="{C52B3FAD-1561-03C3-EF81-47877913147D}"/>
          </ac:spMkLst>
        </pc:spChg>
      </pc:sldChg>
      <pc:sldChg chg="addSp modSp new mod">
        <pc:chgData name="Tanja De Groot (Nokia)" userId="01a78cc0-88b1-4873-a238-25bec9db6e06" providerId="ADAL" clId="{33AC5DB6-6098-4BA1-9615-8D690C6D0FD5}" dt="2026-03-09T11:00:53.595" v="2487" actId="20577"/>
        <pc:sldMkLst>
          <pc:docMk/>
          <pc:sldMk cId="1156330466" sldId="2072"/>
        </pc:sldMkLst>
        <pc:spChg chg="mod">
          <ac:chgData name="Tanja De Groot (Nokia)" userId="01a78cc0-88b1-4873-a238-25bec9db6e06" providerId="ADAL" clId="{33AC5DB6-6098-4BA1-9615-8D690C6D0FD5}" dt="2026-03-05T16:11:32.992" v="925" actId="20577"/>
          <ac:spMkLst>
            <pc:docMk/>
            <pc:sldMk cId="1156330466" sldId="2072"/>
            <ac:spMk id="2" creationId="{91DCABAF-06FD-944C-F872-324CC3313231}"/>
          </ac:spMkLst>
        </pc:spChg>
        <pc:spChg chg="mod">
          <ac:chgData name="Tanja De Groot (Nokia)" userId="01a78cc0-88b1-4873-a238-25bec9db6e06" providerId="ADAL" clId="{33AC5DB6-6098-4BA1-9615-8D690C6D0FD5}" dt="2026-03-09T11:00:53.595" v="2487" actId="20577"/>
          <ac:spMkLst>
            <pc:docMk/>
            <pc:sldMk cId="1156330466" sldId="2072"/>
            <ac:spMk id="3" creationId="{F7BF38D5-C759-79EF-999F-1B3DADD78BA3}"/>
          </ac:spMkLst>
        </pc:spChg>
        <pc:picChg chg="add mod modCrop">
          <ac:chgData name="Tanja De Groot (Nokia)" userId="01a78cc0-88b1-4873-a238-25bec9db6e06" providerId="ADAL" clId="{33AC5DB6-6098-4BA1-9615-8D690C6D0FD5}" dt="2026-03-05T17:29:29.020" v="2480" actId="732"/>
          <ac:picMkLst>
            <pc:docMk/>
            <pc:sldMk cId="1156330466" sldId="2072"/>
            <ac:picMk id="5" creationId="{94A0DF9E-9ECF-7145-654F-9BBE6E9070B4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r">
              <a:defRPr sz="1400"/>
            </a:lvl1pPr>
          </a:lstStyle>
          <a:p>
            <a:fld id="{9847C1C0-7CF7-4E43-8415-72BC7E37BCB3}" type="datetimeFigureOut">
              <a:rPr lang="de-DE" smtClean="0"/>
              <a:pPr/>
              <a:t>05.03.2026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54025" y="925513"/>
            <a:ext cx="8223250" cy="462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551" tIns="53775" rIns="107551" bIns="53775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5863591"/>
            <a:ext cx="5852160" cy="5554980"/>
          </a:xfrm>
          <a:prstGeom prst="rect">
            <a:avLst/>
          </a:prstGeom>
        </p:spPr>
        <p:txBody>
          <a:bodyPr vert="horz" lIns="107551" tIns="53775" rIns="107551" bIns="53775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9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r">
              <a:defRPr sz="1400"/>
            </a:lvl1pPr>
          </a:lstStyle>
          <a:p>
            <a:fld id="{DD817DD0-38E7-46ED-A2FE-994A5C2497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03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for API codeowners and Release Management: what changes with the refactored release automation, and how a maintenance release on a maintenance/rX branch works. Builds on the March 2026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Mostly unchanged. New: release-plan.yaml also lives on a maintenance branch (one plan per line); release-metadata.yaml records base_branch, the branch the snapshot was created from (main or maintenance/rX).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One-slide overview. Lead with what stays the same, then the four changes. Details follow slide by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Replaces the earlier Release Issue and command table slides. The commands, the states and the Release PR are unchanged; on a maintenance line the same flow runs on the line's Release Issue. /sync-issue is new as a visible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as long as main has not moved on, patch from main (case A). Once main plans or has released a later cycle, create maintenance/rX and patch there (case B). Validation rule P-041 tells codeowners which case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history of camaraproject/ReleaseTest2 (October 2026). Compare bases: r1.9 as first rc on the line is compared to the patched release r1.8; r1.10 (maintenance) to the patched release r1.8 as well, since r1.9 is an rc; r1.11 to r1.10.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Preconditions are checked by the automation; if one fails the run fails and the step summary says why. Branch protection: maintenance/** is created only by the automation; all later changes go by PR with codeowner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commands as on main. Differences: the Release Issue names the line, the reference tag source/r1.11 sits on the line, and there are two post-release PRs (into the line and into main) that carry only CHANGELOG-r1.md.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P-041 and P-042 are new. P-033 and P-035 existed and are now scoped to the line of the PR's base branch. The message texts are the real ones from the validation rules (mock-up composed from the ReleaseTest2 history).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CHANGELOG: per-cycle files only; the compare base follows the release type and is ordered by tag version. Latest: a maintenance release of an older cycle stays behind the newer cycle's public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situations: the step summary on every run; replies and common-file sync in the Release Issue; and recovery with /sync-issue when a post-release step failed. Fewer noise runs because the bot's own writes no longer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Internals in one slide. Codeowners do not need this to use the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status before presenting: which pilot repositories, which repositories need a maintenance branch, whether the merge into main happened. Links: https://github.com/camaraproject/ReleaseManagement/issues/675, /730, /459.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from the March slide. New: pr-to-maintenance/rX/rX.Y and sync-common branches, and the retirement steps for 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jpeg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7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jpeg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3.emf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2834820"/>
            <a:ext cx="8886496" cy="221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/>
              <a:t>Montserrat Light</a:t>
            </a:r>
            <a:br>
              <a:rPr lang="de-DE" dirty="0"/>
            </a:br>
            <a:r>
              <a:rPr lang="de-DE" dirty="0"/>
              <a:t>Maximum 3 </a:t>
            </a:r>
            <a:r>
              <a:rPr lang="de-DE" dirty="0" err="1"/>
              <a:t>lines</a:t>
            </a:r>
            <a:br>
              <a:rPr lang="de-DE" dirty="0"/>
            </a:br>
            <a:r>
              <a:rPr lang="de-DE" dirty="0"/>
              <a:t>44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324304" y="5484422"/>
            <a:ext cx="8886496" cy="2994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0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dirty="0" err="1"/>
              <a:t>Subheading</a:t>
            </a:r>
            <a:r>
              <a:rPr lang="de-DE" dirty="0"/>
              <a:t> Montserrat Light, 20 </a:t>
            </a:r>
            <a:r>
              <a:rPr lang="de-DE" dirty="0" err="1"/>
              <a:t>pt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AC6ABFF-D74E-F3D6-83ED-D8DD4422CB8E}"/>
              </a:ext>
            </a:extLst>
          </p:cNvPr>
          <p:cNvSpPr/>
          <p:nvPr userDrawn="1"/>
        </p:nvSpPr>
        <p:spPr>
          <a:xfrm>
            <a:off x="0" y="0"/>
            <a:ext cx="11522075" cy="1467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9520B-6B70-4571-3ABC-0CFCA3485B8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39523"/>
            <a:ext cx="11522075" cy="1467434"/>
          </a:xfrm>
          <a:prstGeom prst="rect">
            <a:avLst/>
          </a:prstGeom>
        </p:spPr>
      </p:pic>
      <p:pic>
        <p:nvPicPr>
          <p:cNvPr id="3" name="Grafik 21">
            <a:extLst>
              <a:ext uri="{FF2B5EF4-FFF2-40B4-BE49-F238E27FC236}">
                <a16:creationId xmlns:a16="http://schemas.microsoft.com/office/drawing/2014/main" id="{D4C43E31-A1C6-FAA1-FEDD-3AF502BC9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88000" y="409180"/>
            <a:ext cx="5105651" cy="9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5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1175971"/>
            <a:ext cx="8937296" cy="410722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5952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747221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695EB076-E1BD-4EDF-8A49-0FFA62C17B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776754" y="470208"/>
            <a:ext cx="3482228" cy="670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F8087-362F-E242-4E14-7355C0A91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7921869" cy="168946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3D7A036-0797-32AA-A50D-1BD3998F9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Slide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47CA737-AEFE-339E-5D5C-2C76D186E3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373" y="1890346"/>
            <a:ext cx="10944225" cy="4124383"/>
          </a:xfrm>
        </p:spPr>
        <p:txBody>
          <a:bodyPr/>
          <a:lstStyle>
            <a:lvl1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91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09954010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270" imgH="270" progId="TCLayout.ActiveDocument.1">
                  <p:embed/>
                </p:oleObj>
              </mc:Choice>
              <mc:Fallback>
                <p:oleObj name="think-cell Folie" r:id="rId7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44373" y="1509913"/>
            <a:ext cx="10789702" cy="4325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First Level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pPr lvl="4"/>
            <a:r>
              <a:rPr lang="de-DE" dirty="0" err="1"/>
              <a:t>Fifth</a:t>
            </a:r>
            <a:r>
              <a:rPr lang="de-DE" dirty="0"/>
              <a:t> Level</a:t>
            </a:r>
          </a:p>
          <a:p>
            <a:pPr lvl="5"/>
            <a:r>
              <a:rPr lang="de-DE" dirty="0" err="1"/>
              <a:t>Sixth</a:t>
            </a:r>
            <a:r>
              <a:rPr lang="de-DE" dirty="0"/>
              <a:t> Level</a:t>
            </a:r>
          </a:p>
          <a:p>
            <a:pPr lvl="6"/>
            <a:r>
              <a:rPr lang="de-DE" dirty="0" err="1"/>
              <a:t>Seventh</a:t>
            </a:r>
            <a:r>
              <a:rPr lang="de-DE" dirty="0"/>
              <a:t> Level</a:t>
            </a:r>
          </a:p>
          <a:p>
            <a:pPr lvl="7"/>
            <a:r>
              <a:rPr lang="de-DE" dirty="0" err="1"/>
              <a:t>Eighth</a:t>
            </a:r>
            <a:r>
              <a:rPr lang="de-DE" dirty="0"/>
              <a:t> Level</a:t>
            </a:r>
          </a:p>
          <a:p>
            <a:pPr lvl="8"/>
            <a:r>
              <a:rPr lang="de-DE" dirty="0" err="1"/>
              <a:t>Ninth</a:t>
            </a:r>
            <a:r>
              <a:rPr lang="de-DE" dirty="0"/>
              <a:t> Level</a:t>
            </a:r>
          </a:p>
        </p:txBody>
      </p:sp>
      <p:sp>
        <p:nvSpPr>
          <p:cNvPr id="77" name="Textfeld 76"/>
          <p:cNvSpPr txBox="1"/>
          <p:nvPr userDrawn="1"/>
        </p:nvSpPr>
        <p:spPr>
          <a:xfrm>
            <a:off x="10412349" y="6149685"/>
            <a:ext cx="820800" cy="1764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FAAB48A4-D341-4AE9-8566-EA7878570C6A}" type="slidenum">
              <a:rPr lang="de-DE" sz="900" b="1" i="0" smtClean="0">
                <a:solidFill>
                  <a:srgbClr val="3A9BF3"/>
                </a:solidFill>
                <a:latin typeface="Montserrat" pitchFamily="2" charset="77"/>
                <a:ea typeface="Typold Book" panose="020B0004030204060B03" pitchFamily="34" charset="0"/>
              </a:rPr>
              <a:pPr algn="r"/>
              <a:t>‹#›</a:t>
            </a:fld>
            <a:endParaRPr lang="en-US" sz="900" b="1" i="0" dirty="0">
              <a:solidFill>
                <a:srgbClr val="3A9BF3"/>
              </a:solidFill>
              <a:latin typeface="Montserrat" pitchFamily="2" charset="77"/>
              <a:ea typeface="Typold Book" panose="020B0004030204060B03" pitchFamily="34" charset="0"/>
            </a:endParaRPr>
          </a:p>
        </p:txBody>
      </p:sp>
      <p:grpSp>
        <p:nvGrpSpPr>
          <p:cNvPr id="138" name="Gruppieren 137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39" name="Gruppieren 138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66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uppieren 139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59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ieren 140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51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uppieren 141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43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Titelplatzhalter 1">
            <a:extLst>
              <a:ext uri="{FF2B5EF4-FFF2-40B4-BE49-F238E27FC236}">
                <a16:creationId xmlns:a16="http://schemas.microsoft.com/office/drawing/2014/main" id="{2CE2C321-820B-44F0-91B6-851AE3C277D4}"/>
              </a:ext>
            </a:extLst>
          </p:cNvPr>
          <p:cNvSpPr txBox="1">
            <a:spLocks/>
          </p:cNvSpPr>
          <p:nvPr userDrawn="1"/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rgbClr val="004750"/>
                </a:solidFill>
                <a:latin typeface="FlexoSoft" panose="02000000000000000000" pitchFamily="2" charset="0"/>
                <a:ea typeface="Typold Book" panose="020B0004030204060B03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79288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8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baseline="0">
          <a:solidFill>
            <a:srgbClr val="004750"/>
          </a:solidFill>
          <a:latin typeface="FlexoSoft" panose="02000000000000000000" pitchFamily="2" charset="0"/>
          <a:ea typeface="Typold Book" panose="020B0004030204060B03" pitchFamily="34" charset="0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lnSpc>
          <a:spcPct val="104000"/>
        </a:lnSpc>
        <a:spcBef>
          <a:spcPts val="1200"/>
        </a:spcBef>
        <a:buFont typeface="Arial" panose="020B0604020202020204" pitchFamily="34" charset="0"/>
        <a:buNone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180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360000" indent="-180000" algn="l" defTabSz="439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5616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756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 baseline="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93186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6pPr>
      <a:lvl7pPr marL="10906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7pPr>
      <a:lvl8pPr marL="12811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8pPr>
      <a:lvl9pPr marL="1474788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324303" y="2834820"/>
            <a:ext cx="10364934" cy="2217600"/>
          </a:xfrm>
        </p:spPr>
        <p:txBody>
          <a:bodyPr/>
          <a:lstStyle/>
          <a:p>
            <a:r>
              <a:rPr lang="en-US" b="1" noProof="1"/>
              <a:t>Release Process Update</a:t>
            </a:r>
            <a:br>
              <a:rPr lang="en-US" b="1" noProof="1"/>
            </a:br>
            <a:r>
              <a:rPr lang="en-US" sz="2400" b="1" noProof="1"/>
              <a:t>Maintenance releases and the refactored release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324304" y="5484422"/>
            <a:ext cx="8886496" cy="303416"/>
          </a:xfrm>
        </p:spPr>
        <p:txBody>
          <a:bodyPr/>
          <a:lstStyle/>
          <a:p>
            <a:r>
              <a:rPr lang="en-US" noProof="1"/>
              <a:t>Release Management Working Group, October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411" y="235626"/>
            <a:ext cx="10944225" cy="784516"/>
          </a:xfrm>
        </p:spPr>
        <p:txBody>
          <a:bodyPr/>
          <a:lstStyle/>
          <a:p>
            <a:r>
              <a:rPr lang="en-US" noProof="1">
                <a:latin typeface="Montserrat ExtraBold" panose="00000900000000000000" pitchFamily="2" charset="0"/>
              </a:rPr>
              <a:t>release-plan.yaml</a:t>
            </a:r>
            <a:r>
              <a:rPr lang="en-US" noProof="1"/>
              <a:t> </a:t>
            </a:r>
            <a:br>
              <a:rPr lang="en-US" noProof="1"/>
            </a:br>
            <a:r>
              <a:rPr lang="en-US" noProof="1"/>
              <a:t>the baseline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971" y="1729199"/>
            <a:ext cx="404149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release-plan.yaml (the intent)</a:t>
            </a:r>
          </a:p>
          <a:p>
            <a:r>
              <a:rPr lang="en-US" sz="1600" noProof="1">
                <a:latin typeface="Montserrat" pitchFamily="2" charset="77"/>
              </a:rPr>
              <a:t>Where: main or </a:t>
            </a:r>
            <a:r>
              <a:rPr lang="en-US" sz="1600" noProof="1" b="1">
                <a:solidFill>
                  <a:srgbClr val="E21075"/>
                </a:solidFill>
                <a:latin typeface="Montserrat" pitchFamily="2" charset="77"/>
              </a:rPr>
              <a:t>maintenance/rX.</a:t>
            </a:r>
          </a:p>
          <a:p>
            <a:r>
              <a:rPr lang="en-US" sz="1600" noProof="1">
                <a:latin typeface="Montserrat" pitchFamily="2" charset="77"/>
              </a:rPr>
              <a:t>Who Edits: Codeowners.</a:t>
            </a:r>
          </a:p>
          <a:p>
            <a:r>
              <a:rPr lang="en-US" sz="1600" noProof="1">
                <a:latin typeface="Montserrat" pitchFamily="2" charset="77"/>
              </a:rPr>
              <a:t>Purpose: tells automation what to do</a:t>
            </a:r>
          </a:p>
        </p:txBody>
      </p:sp>
      <p:pic>
        <p:nvPicPr>
          <p:cNvPr id="6" name="Picture 5" descr="release_metadata_record_176520874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0" y="1736096"/>
            <a:ext cx="979891" cy="979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9198" y="1681674"/>
            <a:ext cx="399660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release-metadata.yaml (the record)</a:t>
            </a:r>
          </a:p>
          <a:p>
            <a:r>
              <a:rPr lang="en-US" sz="1600" noProof="1">
                <a:latin typeface="Montserrat" pitchFamily="2" charset="77"/>
              </a:rPr>
              <a:t>Where: On release tags.</a:t>
            </a:r>
          </a:p>
          <a:p>
            <a:r>
              <a:rPr lang="en-US" sz="1600" noProof="1">
                <a:latin typeface="Montserrat" pitchFamily="2" charset="77"/>
              </a:rPr>
              <a:t>Who Edits: Automation.</a:t>
            </a:r>
          </a:p>
          <a:p>
            <a:r>
              <a:rPr lang="en-US" sz="1600" noProof="1">
                <a:latin typeface="Montserrat" pitchFamily="2" charset="77"/>
              </a:rPr>
              <a:t>Purpose: historical record of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1496" y="2940327"/>
            <a:ext cx="56796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repository_name: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ExampleRepository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release_tag: r3.2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release_date: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"2026-09-30T10:00:00Z"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release_type: pre-release-rc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base_branch: </a:t>
            </a:r>
            <a:r>
              <a:rPr lang="en-US" sz="1200" noProof="1" b="1">
                <a:solidFill>
                  <a:srgbClr val="E21075"/>
                </a:solidFill>
                <a:latin typeface="Courier New"/>
              </a:rPr>
              <a:t>maintenance/r1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src_commit_sha: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7f3a9b2c8e1d4f6a0b5c7e9d3f8a1c4e6b9d2f5a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release_notes: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"Public release of ..."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commonalities_release: r3.4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(0.6.1)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identity_consent_management_release: r3.3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(0.4.0)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- api_name: 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api_version: 1.0.0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-rc.2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api_title: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"Quality On Demand"</a:t>
            </a:r>
          </a:p>
        </p:txBody>
      </p:sp>
      <p:pic>
        <p:nvPicPr>
          <p:cNvPr id="10" name="Picture 9" descr="A blue and white notepad with a dart and a target&#10;&#10;AI-generated content may be incorrect.">
            <a:extLst>
              <a:ext uri="{FF2B5EF4-FFF2-40B4-BE49-F238E27FC236}">
                <a16:creationId xmlns:a16="http://schemas.microsoft.com/office/drawing/2014/main" id="{8D4B563D-5649-AAAD-217F-087B84455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9" y="1720104"/>
            <a:ext cx="1237642" cy="12376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708E49-4069-681F-A5EC-0F5DFB34BC9C}"/>
              </a:ext>
            </a:extLst>
          </p:cNvPr>
          <p:cNvSpPr txBox="1"/>
          <p:nvPr/>
        </p:nvSpPr>
        <p:spPr>
          <a:xfrm>
            <a:off x="376410" y="2940714"/>
            <a:ext cx="51099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release_track: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meta-release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independent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meta_release: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Sync26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release_tag: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target_release_type: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pre-release-rc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none, …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endParaRPr lang="en-US" sz="1200" b="1" noProof="1">
              <a:solidFill>
                <a:schemeClr val="accent2">
                  <a:lumMod val="75000"/>
                </a:schemeClr>
              </a:solidFill>
              <a:latin typeface="Courier New"/>
            </a:endParaRP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commonalities_release: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r3.4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identity_consent_management_release: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r3.3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- api_name: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target_api_version: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1.0.0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target_api_status: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rc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draft, alpha, public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main_contacts: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  -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@contact1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  -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@contact2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724A6-0DA7-B645-CD19-1419E6AAAF20}"/>
              </a:ext>
            </a:extLst>
          </p:cNvPr>
          <p:cNvSpPr txBox="1"/>
          <p:nvPr/>
        </p:nvSpPr>
        <p:spPr>
          <a:xfrm>
            <a:off x="152294" y="1069928"/>
            <a:ext cx="4564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https://github.com/camaraproject/ReleaseManagement/tree/main/documentation/metadata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4672862-5082-1F39-2F30-198D9DCA0D7C}"/>
              </a:ext>
            </a:extLst>
          </p:cNvPr>
          <p:cNvSpPr/>
          <p:nvPr/>
        </p:nvSpPr>
        <p:spPr>
          <a:xfrm rot="16200000">
            <a:off x="5303520" y="1872828"/>
            <a:ext cx="731520" cy="49362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754880" y="17647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21075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Open Sans"/>
              </a:rPr>
              <a:t>new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849624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21075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Open Sans"/>
              </a:rPr>
              <a:t>new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566B094-40C3-D341-70A6-77319CB77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Q&amp;A</a:t>
            </a:r>
          </a:p>
          <a:p>
            <a:endParaRPr lang="de-DE" dirty="0"/>
          </a:p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29345456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What changes for you</a:t>
            </a:r>
            <a:br/>
            <a:r>
              <a:rPr>
                <a:latin typeface="Montserrat Light"/>
              </a:rPr>
              <a:t>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481328"/>
            <a:ext cx="10616184" cy="713232"/>
          </a:xfrm>
          <a:prstGeom prst="roundRect">
            <a:avLst>
              <a:gd name="adj" fmla="val 6000"/>
            </a:avLst>
          </a:prstGeom>
          <a:solidFill>
            <a:srgbClr val="D8EBFD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536192"/>
            <a:ext cx="182880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30"/>
                </a:solidFill>
                <a:latin typeface="Open Sans"/>
              </a:rPr>
              <a:t>Unchanged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B84"/>
                </a:solidFill>
                <a:latin typeface="Open Sans"/>
              </a:rPr>
              <a:t>same commands, same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9736" y="1591056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release-plan.yaml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8768" y="159105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Release Issue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59105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/create-snapshot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91056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/discard-snapshot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35824" y="159105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/delete-draft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0536" y="159105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/publish-release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9736" y="1883664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Release PR on the snapshot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8888" y="1883664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planned → snapshot-active → draft-ready → published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" y="2395728"/>
            <a:ext cx="2516886" cy="2926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578608"/>
            <a:ext cx="384048" cy="384048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2551176"/>
            <a:ext cx="1739645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Maintenance releases on a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127248"/>
            <a:ext cx="2196846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2FB8AE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Patch a released cycle while main moves on</a:t>
            </a:r>
          </a:p>
          <a:p>
            <a:pPr algn="l" marL="164592" indent="-164592">
              <a:spcAft>
                <a:spcPts val="700"/>
              </a:spcAft>
              <a:buClr>
                <a:srgbClr val="2FB8AE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maintenance/rX, created by the automation</a:t>
            </a:r>
          </a:p>
          <a:p>
            <a:pPr algn="l" marL="164592" indent="-164592">
              <a:spcAft>
                <a:spcPts val="700"/>
              </a:spcAft>
              <a:buClr>
                <a:srgbClr val="2FB8AE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One Release Issue per line, side by side</a:t>
            </a:r>
          </a:p>
          <a:p>
            <a:pPr algn="l" marL="164592" indent="-164592">
              <a:spcAft>
                <a:spcPts val="700"/>
              </a:spcAft>
              <a:buClr>
                <a:srgbClr val="2FB8AE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Validation knows the line (P-041, P-042)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7822" y="2395728"/>
            <a:ext cx="2516886" cy="2926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30702" y="2578608"/>
            <a:ext cx="384048" cy="38404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6189" y="2551176"/>
            <a:ext cx="1739645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CHANGELOG per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0702" y="3127248"/>
            <a:ext cx="2196846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3A9BF3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Only CHANGELOG/CHANGELOG-rX.md, no root file</a:t>
            </a:r>
          </a:p>
          <a:p>
            <a:pPr algn="l" marL="164592" indent="-164592">
              <a:spcAft>
                <a:spcPts val="700"/>
              </a:spcAft>
              <a:buClr>
                <a:srgbClr val="3A9BF3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Compare base follows the release type</a:t>
            </a:r>
          </a:p>
          <a:p>
            <a:pPr algn="l" marL="164592" indent="-164592">
              <a:spcAft>
                <a:spcPts val="700"/>
              </a:spcAft>
              <a:buClr>
                <a:srgbClr val="3A9BF3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Maintenance release: compared to the patched release</a:t>
            </a:r>
          </a:p>
          <a:p>
            <a:pPr algn="l" marL="164592" indent="-164592">
              <a:spcAft>
                <a:spcPts val="700"/>
              </a:spcAft>
              <a:buClr>
                <a:srgbClr val="3A9BF3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Unchanged APIs are listed as 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7588" y="2395728"/>
            <a:ext cx="2516886" cy="2926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0468" y="2578608"/>
            <a:ext cx="384048" cy="384048"/>
          </a:xfrm>
          <a:prstGeom prst="ellipse">
            <a:avLst/>
          </a:prstGeom>
          <a:solidFill>
            <a:srgbClr val="06C5F8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2551176"/>
            <a:ext cx="1739645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Clearer feedback, built-in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0468" y="3127248"/>
            <a:ext cx="2196846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06C5F8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Every run writes a step summary</a:t>
            </a:r>
          </a:p>
          <a:p>
            <a:pPr algn="l" marL="164592" indent="-164592">
              <a:spcAft>
                <a:spcPts val="700"/>
              </a:spcAft>
              <a:buClr>
                <a:srgbClr val="06C5F8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/sync-issue replies with a result</a:t>
            </a:r>
          </a:p>
          <a:p>
            <a:pPr algn="l" marL="164592" indent="-164592">
              <a:spcAft>
                <a:spcPts val="700"/>
              </a:spcAft>
              <a:buClr>
                <a:srgbClr val="06C5F8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Common-file sync PR per line, with comments</a:t>
            </a:r>
          </a:p>
          <a:p>
            <a:pPr algn="l" marL="164592" indent="-164592">
              <a:spcAft>
                <a:spcPts val="700"/>
              </a:spcAft>
              <a:buClr>
                <a:srgbClr val="06C5F8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Failed post-release steps: /sync-issue repeats them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7354" y="2395728"/>
            <a:ext cx="2516886" cy="2926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30234" y="2578608"/>
            <a:ext cx="384048" cy="384048"/>
          </a:xfrm>
          <a:prstGeom prst="ellipse">
            <a:avLst/>
          </a:prstGeom>
          <a:solidFill>
            <a:srgbClr val="6B7B84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5722" y="2551176"/>
            <a:ext cx="1739645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Under the hood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0234" y="3127248"/>
            <a:ext cx="2196846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6B7B84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Four jobs: plan, snapshot, act, finalize</a:t>
            </a:r>
          </a:p>
          <a:p>
            <a:pPr algn="l" marL="164592" indent="-164592">
              <a:spcAft>
                <a:spcPts val="700"/>
              </a:spcAft>
              <a:buClr>
                <a:srgbClr val="6B7B84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Logic in tested Python modules</a:t>
            </a:r>
          </a:p>
          <a:p>
            <a:pPr algn="l" marL="164592" indent="-164592">
              <a:spcAft>
                <a:spcPts val="700"/>
              </a:spcAft>
              <a:buClr>
                <a:srgbClr val="6B7B84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Tooling checkout follows the workflow commit</a:t>
            </a:r>
          </a:p>
          <a:p>
            <a:pPr algn="l" marL="164592" indent="-164592">
              <a:spcAft>
                <a:spcPts val="700"/>
              </a:spcAft>
              <a:buClr>
                <a:srgbClr val="6B7B84"/>
              </a:buClr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Fewer cancelled or skipped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5596128"/>
            <a:ext cx="106161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Status: </a:t>
            </a:r>
            <a:r>
              <a:rPr sz="1050" b="0" i="0">
                <a:solidFill>
                  <a:srgbClr val="004750"/>
                </a:solidFill>
                <a:latin typeface="Open Sans"/>
              </a:rPr>
              <a:t>on the tooling branch release-automation-refactor (tag ra-v1-rc2), tested on ReleaseTest2, then pilot repositories, then main → all repositories via @v1-rc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Release flow and commands</a:t>
            </a:r>
            <a:br/>
            <a:r>
              <a:rPr>
                <a:latin typeface="Montserrat Light"/>
              </a:rPr>
              <a:t>on main and on a maintenance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8096" y="19842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planned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2736" y="19842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snapshot-active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7376" y="19842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draft-ready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72016" y="19842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published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34056" y="2212848"/>
            <a:ext cx="822960" cy="0"/>
          </a:xfrm>
          <a:prstGeom prst="line">
            <a:avLst/>
          </a:prstGeom>
          <a:ln w="22225">
            <a:solidFill>
              <a:srgbClr val="1F2A30"/>
            </a:solidFill>
            <a:tailEnd type="triangl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2139696" y="1600200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F2A30"/>
                </a:solidFill>
                <a:latin typeface="Courier New"/>
              </a:rPr>
              <a:t>/create-snapshot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68696" y="2212848"/>
            <a:ext cx="822960" cy="0"/>
          </a:xfrm>
          <a:prstGeom prst="line">
            <a:avLst/>
          </a:prstGeom>
          <a:ln w="22225">
            <a:solidFill>
              <a:srgbClr val="1F2A30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4974336" y="1600200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F2A30"/>
                </a:solidFill>
                <a:latin typeface="Open Sans"/>
              </a:rPr>
              <a:t>merge the Release PR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03336" y="2212848"/>
            <a:ext cx="822960" cy="0"/>
          </a:xfrm>
          <a:prstGeom prst="line">
            <a:avLst/>
          </a:prstGeom>
          <a:ln w="22225">
            <a:solidFill>
              <a:srgbClr val="1F2A30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7808976" y="1600200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F2A30"/>
                </a:solidFill>
                <a:latin typeface="Courier New"/>
              </a:rPr>
              <a:t>/publish-release --confirm rX.Y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62856" y="2459736"/>
            <a:ext cx="0" cy="274320"/>
          </a:xfrm>
          <a:prstGeom prst="line">
            <a:avLst/>
          </a:prstGeom>
          <a:ln w="15875">
            <a:solidFill>
              <a:srgbClr val="E21075"/>
            </a:solidFill>
            <a:prstDash val="dash"/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408176" y="2734056"/>
            <a:ext cx="3154680" cy="0"/>
          </a:xfrm>
          <a:prstGeom prst="line">
            <a:avLst/>
          </a:prstGeom>
          <a:ln w="15875">
            <a:solidFill>
              <a:srgbClr val="E21075"/>
            </a:solidFill>
            <a:prstDash val="dash"/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408176" y="2459736"/>
            <a:ext cx="0" cy="274320"/>
          </a:xfrm>
          <a:prstGeom prst="line">
            <a:avLst/>
          </a:prstGeom>
          <a:ln w="15875">
            <a:solidFill>
              <a:srgbClr val="E21075"/>
            </a:solidFill>
            <a:prstDash val="dash"/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025395" y="2624327"/>
            <a:ext cx="1920240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8288" rIns="18288" tIns="10972" bIns="10972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1075"/>
                </a:solidFill>
                <a:latin typeface="Courier New"/>
              </a:rPr>
              <a:t>/discard-snapshot &lt;reason&gt;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97496" y="2459736"/>
            <a:ext cx="0" cy="603503"/>
          </a:xfrm>
          <a:prstGeom prst="line">
            <a:avLst/>
          </a:prstGeom>
          <a:ln w="15875">
            <a:solidFill>
              <a:srgbClr val="E21075"/>
            </a:solidFill>
            <a:prstDash val="dash"/>
          </a:ln>
        </p:spPr>
      </p:cxnSp>
      <p:cxnSp>
        <p:nvCxnSpPr>
          <p:cNvPr id="18" name="Connector 17"/>
          <p:cNvCxnSpPr/>
          <p:nvPr/>
        </p:nvCxnSpPr>
        <p:spPr>
          <a:xfrm flipH="1">
            <a:off x="2048256" y="3063239"/>
            <a:ext cx="5349240" cy="0"/>
          </a:xfrm>
          <a:prstGeom prst="line">
            <a:avLst/>
          </a:prstGeom>
          <a:ln w="15875">
            <a:solidFill>
              <a:srgbClr val="E21075"/>
            </a:solidFill>
            <a:prstDash val="dash"/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048256" y="2459736"/>
            <a:ext cx="0" cy="603503"/>
          </a:xfrm>
          <a:prstGeom prst="line">
            <a:avLst/>
          </a:prstGeom>
          <a:ln w="15875">
            <a:solidFill>
              <a:srgbClr val="E21075"/>
            </a:solidFill>
            <a:prstDash val="dash"/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3762756" y="2953511"/>
            <a:ext cx="1920240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8288" rIns="18288" tIns="10972" bIns="10972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1075"/>
                </a:solidFill>
                <a:latin typeface="Courier New"/>
              </a:rPr>
              <a:t>/delete-draft &lt;reason&gt;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355848"/>
            <a:ext cx="2377440" cy="1783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447288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Release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767328"/>
            <a:ext cx="215798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created or updated from release-plan.yaml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on push to main or to the line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readiness checklist, valid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3355848"/>
            <a:ext cx="2377440" cy="1783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64" y="3447288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Snapshot + Release 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3767328"/>
            <a:ext cx="215798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snapshot branch, release-review branch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CHANGELOG-rX.md section drafted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review, edit, approve, merge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3355848"/>
            <a:ext cx="2377440" cy="1783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3447288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Draft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3767328"/>
            <a:ext cx="215798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GitHub draft release with release-metadata.yaml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versions and files finalised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publish or delete the draft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3355848"/>
            <a:ext cx="2377440" cy="17830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3447288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Published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3767328"/>
            <a:ext cx="2157984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tag rX.Y, source/rX.Y, release/rX.Y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post-release sync PR(s), codeowner merge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Release Issue closes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" y="5349240"/>
            <a:ext cx="10616184" cy="502920"/>
          </a:xfrm>
          <a:prstGeom prst="roundRect">
            <a:avLst>
              <a:gd name="adj" fmla="val 6000"/>
            </a:avLst>
          </a:prstGeom>
          <a:solidFill>
            <a:srgbClr val="D5F1EE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5376672"/>
            <a:ext cx="10341863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4750"/>
                </a:solidFill>
                <a:latin typeface="Courier New"/>
              </a:rPr>
              <a:t>/sync-issue</a:t>
            </a:r>
            <a:r>
              <a:rPr sz="1000" b="0" i="0">
                <a:solidFill>
                  <a:srgbClr val="6B7B84"/>
                </a:solidFill>
                <a:latin typeface="Open Sans"/>
              </a:rPr>
              <a:t>  (any state, also as workflow dispatch)  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re-syncs the Release Issue of its line and replies with the result; after a publication whose post-release steps failed, it runs them again and closes the issue.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Maintenance release</a:t>
            </a:r>
            <a:br/>
            <a:r>
              <a:rPr>
                <a:latin typeface="Montserrat Light"/>
              </a:rPr>
              <a:t>from main (A) or from the line (B)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801368"/>
            <a:ext cx="3749039" cy="777240"/>
          </a:xfrm>
          <a:prstGeom prst="roundRect">
            <a:avLst>
              <a:gd name="adj" fmla="val 12000"/>
            </a:avLst>
          </a:prstGeom>
          <a:solidFill>
            <a:srgbClr val="1F2A30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A public release of cycle rX needs a patch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Open Sans"/>
              </a:rPr>
              <a:t>bug fixes only, same APIs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22576" y="2578608"/>
            <a:ext cx="0" cy="45720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5" name="Rounded Rectangle 4"/>
          <p:cNvSpPr/>
          <p:nvPr/>
        </p:nvSpPr>
        <p:spPr>
          <a:xfrm>
            <a:off x="448056" y="3035808"/>
            <a:ext cx="3749039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1075"/>
            </a:solidFill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Has main moved on?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004750"/>
                </a:solidFill>
                <a:latin typeface="Open Sans"/>
              </a:rPr>
              <a:t>release-plan.yaml on main targets a later cycle, a later cycle has already released, or main already holds changes for the next cycle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97096" y="3630168"/>
            <a:ext cx="502920" cy="0"/>
          </a:xfrm>
          <a:prstGeom prst="line">
            <a:avLst/>
          </a:prstGeom>
          <a:ln w="25400">
            <a:solidFill>
              <a:srgbClr val="3A9BF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4700016" y="2372868"/>
            <a:ext cx="0" cy="1257300"/>
          </a:xfrm>
          <a:prstGeom prst="line">
            <a:avLst/>
          </a:prstGeom>
          <a:ln w="25400">
            <a:solidFill>
              <a:srgbClr val="3A9BF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700016" y="2372868"/>
            <a:ext cx="502920" cy="0"/>
          </a:xfrm>
          <a:prstGeom prst="line">
            <a:avLst/>
          </a:prstGeom>
          <a:ln w="25400">
            <a:solidFill>
              <a:srgbClr val="3A9BF3"/>
            </a:solidFill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4754879" y="286435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A9BF3"/>
                </a:solidFill>
                <a:latin typeface="Open Sans"/>
              </a:rPr>
              <a:t>no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0016" y="3630168"/>
            <a:ext cx="0" cy="617220"/>
          </a:xfrm>
          <a:prstGeom prst="line">
            <a:avLst/>
          </a:prstGeom>
          <a:ln w="25400">
            <a:solidFill>
              <a:srgbClr val="2FB8A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4700016" y="4247388"/>
            <a:ext cx="502920" cy="0"/>
          </a:xfrm>
          <a:prstGeom prst="line">
            <a:avLst/>
          </a:prstGeom>
          <a:ln w="25400">
            <a:solidFill>
              <a:srgbClr val="2FB8AE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4754879" y="380161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FB8AE"/>
                </a:solidFill>
                <a:latin typeface="Open Sans"/>
              </a:rP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527048"/>
            <a:ext cx="5861304" cy="1691640"/>
          </a:xfrm>
          <a:prstGeom prst="roundRect">
            <a:avLst>
              <a:gd name="adj" fmla="val 6000"/>
            </a:avLst>
          </a:prstGeom>
          <a:solidFill>
            <a:srgbClr val="D8EBFD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1618488"/>
            <a:ext cx="55869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9BF3"/>
                </a:solidFill>
                <a:latin typeface="Open Sans"/>
              </a:rPr>
              <a:t>Case A  </a:t>
            </a:r>
            <a:r>
              <a:rPr sz="1200" b="1" i="0">
                <a:solidFill>
                  <a:srgbClr val="1F2A30"/>
                </a:solidFill>
                <a:latin typeface="Open Sans"/>
              </a:rPr>
              <a:t>release from main, as usual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1984248"/>
            <a:ext cx="5586984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Plan </a:t>
            </a:r>
            <a:r>
              <a:rPr sz="1050" b="0" i="0">
                <a:solidFill>
                  <a:srgbClr val="004750"/>
                </a:solidFill>
                <a:latin typeface="Courier New"/>
              </a:rPr>
              <a:t>rX.(N+1)</a:t>
            </a:r>
            <a:r>
              <a:rPr sz="1050" b="0" i="0">
                <a:solidFill>
                  <a:srgbClr val="004750"/>
                </a:solidFill>
                <a:latin typeface="Open Sans"/>
              </a:rPr>
              <a:t> as </a:t>
            </a:r>
            <a:r>
              <a:rPr sz="1050" b="0" i="0">
                <a:solidFill>
                  <a:srgbClr val="004750"/>
                </a:solidFill>
                <a:latin typeface="Courier New"/>
              </a:rPr>
              <a:t>maintenance-release</a:t>
            </a:r>
            <a:r>
              <a:rPr sz="1050" b="0" i="0">
                <a:solidFill>
                  <a:srgbClr val="004750"/>
                </a:solidFill>
                <a:latin typeface="Open Sans"/>
              </a:rPr>
              <a:t> (or </a:t>
            </a:r>
            <a:r>
              <a:rPr sz="1050" b="0" i="0">
                <a:solidFill>
                  <a:srgbClr val="004750"/>
                </a:solidFill>
                <a:latin typeface="Courier New"/>
              </a:rPr>
              <a:t>pre-release-rc</a:t>
            </a:r>
            <a:r>
              <a:rPr sz="1050" b="0" i="0">
                <a:solidFill>
                  <a:srgbClr val="004750"/>
                </a:solidFill>
                <a:latin typeface="Open Sans"/>
              </a:rPr>
              <a:t> first)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Same Release Issue on main, same commands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Works as long as main holds no changes meant for the next cycle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6B7B84"/>
                </a:solidFill>
                <a:latin typeface="Open Sans"/>
              </a:rPr>
              <a:t>ReleaseTest2: r1.7 and r1.8 patched r1.6 this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3401568"/>
            <a:ext cx="5861304" cy="1691640"/>
          </a:xfrm>
          <a:prstGeom prst="roundRect">
            <a:avLst>
              <a:gd name="adj" fmla="val 6000"/>
            </a:avLst>
          </a:prstGeom>
          <a:solidFill>
            <a:srgbClr val="D5F1EE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3493008"/>
            <a:ext cx="55869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FB8AE"/>
                </a:solidFill>
                <a:latin typeface="Open Sans"/>
              </a:rPr>
              <a:t>Case B  </a:t>
            </a:r>
            <a:r>
              <a:rPr sz="1200" b="1" i="0">
                <a:solidFill>
                  <a:srgbClr val="1F2A30"/>
                </a:solidFill>
                <a:latin typeface="Open Sans"/>
              </a:rPr>
              <a:t>release from maintenance/rX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858768"/>
            <a:ext cx="5586984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Create the line once: workflow dispatch </a:t>
            </a:r>
            <a:r>
              <a:rPr sz="1050" b="0" i="0">
                <a:solidFill>
                  <a:srgbClr val="004750"/>
                </a:solidFill>
                <a:latin typeface="Courier New"/>
              </a:rPr>
              <a:t>create-maintenance-branch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Plan on the line by PR; the merge creates the line's Release Issue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004750"/>
                </a:solidFill>
                <a:latin typeface="Open Sans"/>
              </a:rPr>
              <a:t>Same commands on that issue; main keeps planning the next cycle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6B7B84"/>
                </a:solidFill>
                <a:latin typeface="Open Sans"/>
              </a:rPr>
              <a:t>ReleaseTest2: r1.9 to r1.11 on maintenance/r1, next to r2.1, r2.2 and r3.1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" y="5276088"/>
            <a:ext cx="10616184" cy="914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340096"/>
            <a:ext cx="10341863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A30"/>
                </a:solidFill>
                <a:latin typeface="Open Sans"/>
              </a:rPr>
              <a:t>In both cases  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the patched release is the newest public or maintenance release of the cycle; the new tag is the cycle's next tag (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P-041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)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Same API set, patch bumps only; a minor bump is the exception for x ≥ 1 when a later cycle already published a higher major (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P-042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)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Once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maintenance/rX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exists, main must not plan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rX.*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any more; an rc of the cycle is finished or discarded from main before the branch is created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Two release lines side by side</a:t>
            </a:r>
            <a:br/>
            <a:r>
              <a:rPr>
                <a:latin typeface="Montserrat Light"/>
              </a:rPr>
              <a:t>the ReleaseTest2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2368296"/>
            <a:ext cx="16916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A9BF3"/>
                </a:solidFill>
                <a:latin typeface="Courier New"/>
              </a:rPr>
              <a:t>main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new cycles, case A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105656"/>
            <a:ext cx="169164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FB8AE"/>
                </a:solidFill>
                <a:latin typeface="Courier New"/>
              </a:rPr>
              <a:t>maintenance/r1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branched at r1.8, case B patches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85415" y="2670048"/>
            <a:ext cx="8787385" cy="0"/>
          </a:xfrm>
          <a:prstGeom prst="line">
            <a:avLst/>
          </a:prstGeom>
          <a:ln w="38100">
            <a:solidFill>
              <a:srgbClr val="3A9BF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0698480" y="2670048"/>
            <a:ext cx="320040" cy="0"/>
          </a:xfrm>
          <a:prstGeom prst="line">
            <a:avLst/>
          </a:prstGeom>
          <a:ln w="38100">
            <a:solidFill>
              <a:srgbClr val="3A9BF3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>
            <a:off x="4965191" y="4407408"/>
            <a:ext cx="6007609" cy="0"/>
          </a:xfrm>
          <a:prstGeom prst="line">
            <a:avLst/>
          </a:prstGeom>
          <a:ln w="38100">
            <a:solidFill>
              <a:srgbClr val="2FB8A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698480" y="4407408"/>
            <a:ext cx="320040" cy="0"/>
          </a:xfrm>
          <a:prstGeom prst="line">
            <a:avLst/>
          </a:prstGeom>
          <a:ln w="38100">
            <a:solidFill>
              <a:srgbClr val="2FB8AE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4251959" y="2862072"/>
            <a:ext cx="0" cy="1545336"/>
          </a:xfrm>
          <a:prstGeom prst="bentConnector3">
            <a:avLst/>
          </a:prstGeom>
          <a:ln w="25400">
            <a:solidFill>
              <a:srgbClr val="2FB8A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251959" y="4407408"/>
            <a:ext cx="713232" cy="0"/>
          </a:xfrm>
          <a:prstGeom prst="line">
            <a:avLst/>
          </a:prstGeom>
          <a:ln w="25400">
            <a:solidFill>
              <a:srgbClr val="2FB8A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2285999" y="3538728"/>
            <a:ext cx="187451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2FB8AE"/>
                </a:solidFill>
                <a:latin typeface="Courier New"/>
              </a:rPr>
              <a:t>create-maintenance-branch</a:t>
            </a:r>
          </a:p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2FB8AE"/>
                </a:solidFill>
                <a:latin typeface="Open Sans"/>
              </a:rPr>
              <a:t>set-up commit on the branch</a:t>
            </a:r>
          </a:p>
        </p:txBody>
      </p:sp>
      <p:sp>
        <p:nvSpPr>
          <p:cNvPr id="12" name="Oval 11"/>
          <p:cNvSpPr/>
          <p:nvPr/>
        </p:nvSpPr>
        <p:spPr>
          <a:xfrm>
            <a:off x="2267711" y="2478024"/>
            <a:ext cx="384048" cy="38404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11095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r1.6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public</a:t>
            </a:r>
          </a:p>
        </p:txBody>
      </p:sp>
      <p:sp>
        <p:nvSpPr>
          <p:cNvPr id="14" name="Oval 13"/>
          <p:cNvSpPr/>
          <p:nvPr/>
        </p:nvSpPr>
        <p:spPr>
          <a:xfrm>
            <a:off x="3163823" y="2478024"/>
            <a:ext cx="384048" cy="38404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7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r1.7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maintenance</a:t>
            </a:r>
          </a:p>
        </p:txBody>
      </p:sp>
      <p:sp>
        <p:nvSpPr>
          <p:cNvPr id="16" name="Oval 15"/>
          <p:cNvSpPr/>
          <p:nvPr/>
        </p:nvSpPr>
        <p:spPr>
          <a:xfrm>
            <a:off x="4059935" y="2478024"/>
            <a:ext cx="384048" cy="38404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r1.8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maintenance</a:t>
            </a:r>
          </a:p>
        </p:txBody>
      </p:sp>
      <p:sp>
        <p:nvSpPr>
          <p:cNvPr id="18" name="Oval 17"/>
          <p:cNvSpPr/>
          <p:nvPr/>
        </p:nvSpPr>
        <p:spPr>
          <a:xfrm>
            <a:off x="6748272" y="2478024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9BF3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r2.1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rc</a:t>
            </a:r>
          </a:p>
        </p:txBody>
      </p:sp>
      <p:sp>
        <p:nvSpPr>
          <p:cNvPr id="20" name="Oval 19"/>
          <p:cNvSpPr/>
          <p:nvPr/>
        </p:nvSpPr>
        <p:spPr>
          <a:xfrm>
            <a:off x="8540495" y="2478024"/>
            <a:ext cx="384048" cy="38404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r2.2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public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59" y="1609344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DBF11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F2A30"/>
                </a:solidFill>
                <a:latin typeface="Open Sans"/>
              </a:rPr>
              <a:t>Latest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19" y="247802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BF3"/>
            </a:solidFill>
            <a:prstDash val="dash"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76104" y="1911095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r3.1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alpha (planned)</a:t>
            </a:r>
          </a:p>
        </p:txBody>
      </p:sp>
      <p:sp>
        <p:nvSpPr>
          <p:cNvPr id="25" name="Oval 24"/>
          <p:cNvSpPr/>
          <p:nvPr/>
        </p:nvSpPr>
        <p:spPr>
          <a:xfrm>
            <a:off x="5852159" y="4215384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B8AE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4636008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r1.9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rc</a:t>
            </a:r>
          </a:p>
        </p:txBody>
      </p:sp>
      <p:sp>
        <p:nvSpPr>
          <p:cNvPr id="27" name="Oval 26"/>
          <p:cNvSpPr/>
          <p:nvPr/>
        </p:nvSpPr>
        <p:spPr>
          <a:xfrm>
            <a:off x="7644383" y="4215384"/>
            <a:ext cx="384048" cy="384048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4636008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r1.10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maintenance</a:t>
            </a:r>
          </a:p>
        </p:txBody>
      </p:sp>
      <p:sp>
        <p:nvSpPr>
          <p:cNvPr id="29" name="Oval 28"/>
          <p:cNvSpPr/>
          <p:nvPr/>
        </p:nvSpPr>
        <p:spPr>
          <a:xfrm>
            <a:off x="9436607" y="4215384"/>
            <a:ext cx="384048" cy="384048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4636008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r1.11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maintenance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927848" y="2880360"/>
            <a:ext cx="320040" cy="1316736"/>
          </a:xfrm>
          <a:prstGeom prst="line">
            <a:avLst/>
          </a:prstGeom>
          <a:ln w="15875">
            <a:solidFill>
              <a:srgbClr val="2FB8AE"/>
            </a:solidFill>
            <a:prstDash val="dash"/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V="1">
            <a:off x="9720072" y="2880360"/>
            <a:ext cx="320039" cy="1316736"/>
          </a:xfrm>
          <a:prstGeom prst="line">
            <a:avLst/>
          </a:prstGeom>
          <a:ln w="15875">
            <a:solidFill>
              <a:srgbClr val="2FB8AE"/>
            </a:solidFill>
            <a:prstDash val="dash"/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8339328" y="3035808"/>
            <a:ext cx="1737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FB8AE"/>
                </a:solidFill>
                <a:latin typeface="Courier New"/>
              </a:rPr>
              <a:t>CHANGELOG-r1.md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FB8AE"/>
                </a:solidFill>
                <a:latin typeface="Open Sans"/>
              </a:rPr>
              <a:t>synced into main by PR</a:t>
            </a:r>
          </a:p>
        </p:txBody>
      </p:sp>
      <p:sp>
        <p:nvSpPr>
          <p:cNvPr id="34" name="Oval 33"/>
          <p:cNvSpPr/>
          <p:nvPr/>
        </p:nvSpPr>
        <p:spPr>
          <a:xfrm>
            <a:off x="530352" y="5312664"/>
            <a:ext cx="201168" cy="201168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5276088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public / maintenance release</a:t>
            </a:r>
          </a:p>
        </p:txBody>
      </p:sp>
      <p:sp>
        <p:nvSpPr>
          <p:cNvPr id="36" name="Oval 35"/>
          <p:cNvSpPr/>
          <p:nvPr/>
        </p:nvSpPr>
        <p:spPr>
          <a:xfrm>
            <a:off x="2542032" y="531266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9BF3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25496" y="527608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pre-release (alpha, rc)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71416" y="5138928"/>
            <a:ext cx="6592823" cy="960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5184648"/>
            <a:ext cx="6318503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Latest stays with r2.2 although r1.10 and r1.11 were published later; the automation restores it if GitHub moved it.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Each line has its own release-plan.yaml and Release Issue; CHANGELOG compare base: r1.9 and r1.10 against r1.8 (r1.9 is an rc), r1.11 against r1.10.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r1.7 and r1.8 were released from main (case A) before r2.1 existed.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Case B, step 1</a:t>
            </a:r>
            <a:br/>
            <a:r>
              <a:rPr>
                <a:latin typeface="Montserrat Light"/>
              </a:rPr>
              <a:t>create the maintenance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572768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664208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F2A30"/>
                </a:solidFill>
                <a:latin typeface="Open Sans"/>
              </a:rPr>
              <a:t>Actions › CAMARA Release Automation › Run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8056" y="1984248"/>
            <a:ext cx="3566159" cy="0"/>
          </a:xfrm>
          <a:prstGeom prst="line">
            <a:avLst/>
          </a:prstGeom>
          <a:ln w="12700">
            <a:solidFill>
              <a:srgbClr val="C9D4DC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85216" y="2075688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Use workflow from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313432"/>
            <a:ext cx="3291840" cy="310896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tIns="54864" bIns="54864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A30"/>
                </a:solidFill>
                <a:latin typeface="Courier New"/>
              </a:rPr>
              <a:t>Branch: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624328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862072"/>
            <a:ext cx="3291840" cy="310896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tIns="54864" bIns="54864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A30"/>
                </a:solidFill>
                <a:latin typeface="Courier New"/>
              </a:rPr>
              <a:t>create-maintenance-branch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172968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410712"/>
            <a:ext cx="3291840" cy="310896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tIns="54864" bIns="54864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A30"/>
                </a:solidFill>
                <a:latin typeface="Courier New"/>
              </a:rPr>
              <a:t>r1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Open Sans"/>
              </a:rPr>
              <a:t>Run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56" y="3703320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6B7B84"/>
                </a:solidFill>
                <a:latin typeface="Open Sans"/>
              </a:rPr>
              <a:t>from main; codeowners only</a:t>
            </a:r>
          </a:p>
        </p:txBody>
      </p:sp>
      <p:sp>
        <p:nvSpPr>
          <p:cNvPr id="14" name="Oval 13"/>
          <p:cNvSpPr/>
          <p:nvPr/>
        </p:nvSpPr>
        <p:spPr>
          <a:xfrm>
            <a:off x="4379976" y="1554480"/>
            <a:ext cx="310896" cy="310896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1545336"/>
            <a:ext cx="622706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Preconditions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1874520"/>
            <a:ext cx="6227064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main's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release-plan.yaml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targets a later cycle (any type, even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none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; a cycle-X tag blocks, also when published)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the cycle's newest release is public or maintenance, not an rc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Courier New"/>
              </a:rPr>
              <a:t>maintenance/rX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does not exist yet</a:t>
            </a:r>
          </a:p>
        </p:txBody>
      </p:sp>
      <p:sp>
        <p:nvSpPr>
          <p:cNvPr id="17" name="Oval 16"/>
          <p:cNvSpPr/>
          <p:nvPr/>
        </p:nvSpPr>
        <p:spPr>
          <a:xfrm>
            <a:off x="4379976" y="2651760"/>
            <a:ext cx="310896" cy="310896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642616"/>
            <a:ext cx="622706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The automation creates the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971800"/>
            <a:ext cx="6227064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at the source commit of the patched release (r1.8)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one set-up commit: caller workflows from main,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CHANGELOG/CHANGELOG-r1.md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of r1.8,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release-plan.yaml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parked at r1.9 with type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none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no PR, no Release Issue yet; the step summary names the next step</a:t>
            </a:r>
          </a:p>
        </p:txBody>
      </p:sp>
      <p:sp>
        <p:nvSpPr>
          <p:cNvPr id="20" name="Oval 19"/>
          <p:cNvSpPr/>
          <p:nvPr/>
        </p:nvSpPr>
        <p:spPr>
          <a:xfrm>
            <a:off x="4379976" y="3931920"/>
            <a:ext cx="310896" cy="310896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3922775"/>
            <a:ext cx="622706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Plan the first release by PR into the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4251959"/>
            <a:ext cx="6227064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Courier New"/>
              </a:rPr>
              <a:t>target_release_type: maintenance-release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(or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pre-release-rc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), patch versions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the merge creates the line's Release Issue: “Release r1.9 (rc) on maintenance/r1”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6" y="4864608"/>
            <a:ext cx="3383280" cy="0"/>
          </a:xfrm>
          <a:prstGeom prst="line">
            <a:avLst/>
          </a:prstGeom>
          <a:ln w="38100">
            <a:solidFill>
              <a:srgbClr val="3A9BF3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4105656" y="4864608"/>
            <a:ext cx="457200" cy="0"/>
          </a:xfrm>
          <a:prstGeom prst="line">
            <a:avLst/>
          </a:prstGeom>
          <a:ln w="38100">
            <a:solidFill>
              <a:srgbClr val="3A9BF3"/>
            </a:solidFill>
            <a:tailEnd type="triangle" w="med" len="med"/>
          </a:ln>
        </p:spPr>
      </p:cxnSp>
      <p:sp>
        <p:nvSpPr>
          <p:cNvPr id="25" name="Oval 24"/>
          <p:cNvSpPr/>
          <p:nvPr/>
        </p:nvSpPr>
        <p:spPr>
          <a:xfrm>
            <a:off x="1152144" y="4745736"/>
            <a:ext cx="237744" cy="237744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407408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1F2A30"/>
                </a:solidFill>
                <a:latin typeface="Courier New"/>
              </a:rPr>
              <a:t>r1.6</a:t>
            </a:r>
          </a:p>
        </p:txBody>
      </p:sp>
      <p:sp>
        <p:nvSpPr>
          <p:cNvPr id="27" name="Oval 26"/>
          <p:cNvSpPr/>
          <p:nvPr/>
        </p:nvSpPr>
        <p:spPr>
          <a:xfrm>
            <a:off x="2340864" y="4745736"/>
            <a:ext cx="237744" cy="237744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02536" y="4407408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1F2A30"/>
                </a:solidFill>
                <a:latin typeface="Courier New"/>
              </a:rPr>
              <a:t>r1.7</a:t>
            </a:r>
          </a:p>
        </p:txBody>
      </p:sp>
      <p:sp>
        <p:nvSpPr>
          <p:cNvPr id="29" name="Oval 28"/>
          <p:cNvSpPr/>
          <p:nvPr/>
        </p:nvSpPr>
        <p:spPr>
          <a:xfrm>
            <a:off x="3529584" y="4745736"/>
            <a:ext cx="237744" cy="237744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4407408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1F2A30"/>
                </a:solidFill>
                <a:latin typeface="Courier New"/>
              </a:rPr>
              <a:t>r1.8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48456" y="4983480"/>
            <a:ext cx="0" cy="566928"/>
          </a:xfrm>
          <a:prstGeom prst="bentConnector3">
            <a:avLst/>
          </a:prstGeom>
          <a:ln w="25400">
            <a:solidFill>
              <a:srgbClr val="2FB8AE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3648456" y="5550408"/>
            <a:ext cx="6867144" cy="0"/>
          </a:xfrm>
          <a:prstGeom prst="line">
            <a:avLst/>
          </a:prstGeom>
          <a:ln w="38100">
            <a:solidFill>
              <a:srgbClr val="2FB8AE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515600" y="5550408"/>
            <a:ext cx="457200" cy="0"/>
          </a:xfrm>
          <a:prstGeom prst="line">
            <a:avLst/>
          </a:prstGeom>
          <a:ln w="38100">
            <a:solidFill>
              <a:srgbClr val="2FB8AE"/>
            </a:solidFill>
            <a:tailEnd type="triangle" w="med" len="med"/>
          </a:ln>
        </p:spPr>
      </p:cxnSp>
      <p:sp>
        <p:nvSpPr>
          <p:cNvPr id="34" name="Oval 33"/>
          <p:cNvSpPr/>
          <p:nvPr/>
        </p:nvSpPr>
        <p:spPr>
          <a:xfrm>
            <a:off x="4352544" y="54315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B8AE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4136" y="5733288"/>
            <a:ext cx="2194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FB8AE"/>
                </a:solidFill>
                <a:latin typeface="Open Sans"/>
              </a:rPr>
              <a:t>set-up commit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B84"/>
                </a:solidFill>
                <a:latin typeface="Courier New"/>
              </a:rPr>
              <a:t>chore: set up maintenance/r1 from r1.8</a:t>
            </a:r>
          </a:p>
        </p:txBody>
      </p:sp>
      <p:sp>
        <p:nvSpPr>
          <p:cNvPr id="36" name="Oval 35"/>
          <p:cNvSpPr/>
          <p:nvPr/>
        </p:nvSpPr>
        <p:spPr>
          <a:xfrm>
            <a:off x="6638544" y="54315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B8AE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0136" y="5733288"/>
            <a:ext cx="2194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FB8AE"/>
                </a:solidFill>
                <a:latin typeface="Open Sans"/>
              </a:rPr>
              <a:t>first PR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B84"/>
                </a:solidFill>
                <a:latin typeface="Courier New"/>
              </a:rPr>
              <a:t>chore: plan r1.9 (rc) on maintenance/r1</a:t>
            </a:r>
          </a:p>
        </p:txBody>
      </p:sp>
      <p:sp>
        <p:nvSpPr>
          <p:cNvPr id="38" name="Oval 37"/>
          <p:cNvSpPr/>
          <p:nvPr/>
        </p:nvSpPr>
        <p:spPr>
          <a:xfrm>
            <a:off x="8924544" y="54315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B8AE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46136" y="5733288"/>
            <a:ext cx="2194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FB8AE"/>
                </a:solidFill>
                <a:latin typeface="Open Sans"/>
              </a:rPr>
              <a:t>Release Issue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B84"/>
                </a:solidFill>
                <a:latin typeface="Courier New"/>
              </a:rPr>
              <a:t>Release r1.9 (rc) on maintenance/r1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" y="5431536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FB8AE"/>
                </a:solidFill>
                <a:latin typeface="Courier New"/>
              </a:rPr>
              <a:t>maintenance/r1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" y="4727448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3A9BF3"/>
                </a:solidFill>
                <a:latin typeface="Courier New"/>
              </a:rPr>
              <a:t>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Case B, step 2</a:t>
            </a:r>
            <a:br/>
            <a:r>
              <a:rPr>
                <a:latin typeface="Montserrat Light"/>
              </a:rPr>
              <a:t>release and sync on the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527048"/>
            <a:ext cx="10616184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572768"/>
            <a:ext cx="685800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30"/>
                </a:solidFill>
                <a:latin typeface="Open Sans"/>
              </a:rPr>
              <a:t>Release r1.11 (maintenance) on maintenance/r1</a:t>
            </a:r>
            <a:r>
              <a:rPr sz="1100" b="0" i="0">
                <a:solidFill>
                  <a:srgbClr val="6B7B84"/>
                </a:solidFill>
                <a:latin typeface="Open Sans"/>
              </a:rPr>
              <a:t>  #147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63256" y="168249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4E8FD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B5CAD"/>
                </a:solidFill>
                <a:latin typeface="Open Sans"/>
              </a:rPr>
              <a:t>release-issue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51976" y="1682496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2D9F7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5A2CA0"/>
                </a:solidFill>
                <a:latin typeface="Open Sans"/>
              </a:rPr>
              <a:t>release-state:published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1488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6B7B84"/>
                </a:solidFill>
                <a:latin typeface="Open Sans"/>
              </a:rPr>
              <a:t>one Release Issue per line; a command on this issue acts on maintenance/r1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2532888"/>
            <a:ext cx="1918411" cy="365760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Open Sans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2990088"/>
            <a:ext cx="1918411" cy="16002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3063240"/>
            <a:ext cx="1735531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PR into maintenance/r1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tag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r1.11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, type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maintenance-release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merge → Release Issue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84755" y="2715768"/>
            <a:ext cx="21945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622499" y="2532888"/>
            <a:ext cx="1918411" cy="365760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/create-snapshot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2499" y="2990088"/>
            <a:ext cx="1918411" cy="16002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3939" y="3063240"/>
            <a:ext cx="1735531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snapshot + Release PR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Courier New"/>
              </a:rPr>
              <a:t>CHANGELOG-r1.md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section, compared to r1.10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edit, approve,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59198" y="2715768"/>
            <a:ext cx="21945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4796942" y="2532888"/>
            <a:ext cx="1918411" cy="365760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Open Sans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6942" y="2990088"/>
            <a:ext cx="1918411" cy="16002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8382" y="3063240"/>
            <a:ext cx="1735531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merge creates the draft release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Courier New"/>
              </a:rPr>
              <a:t>/publish-release --confirm r1.11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33641" y="2715768"/>
            <a:ext cx="21945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6971385" y="2532888"/>
            <a:ext cx="1918411" cy="365760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Open Sans"/>
              </a:rPr>
              <a:t>Published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1385" y="2990088"/>
            <a:ext cx="1918411" cy="16002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2825" y="3063240"/>
            <a:ext cx="1735531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tag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r1.11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Courier New"/>
              </a:rPr>
              <a:t>source/r1.11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on the line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Courier New"/>
              </a:rPr>
              <a:t>release/r1.11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pointer branch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Latest unchanged (r2.2)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08084" y="2715768"/>
            <a:ext cx="21945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9145828" y="2532888"/>
            <a:ext cx="1918411" cy="365760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Open Sans"/>
              </a:rPr>
              <a:t>Sync PRs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5828" y="2990088"/>
            <a:ext cx="1918411" cy="16002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7268" y="3063240"/>
            <a:ext cx="1735531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#149 into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maintenance/r1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#150 into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main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CHANGELOG only, no README change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issue closes when both exist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" y="4773168"/>
            <a:ext cx="10616184" cy="11430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4846320"/>
            <a:ext cx="10341863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A30"/>
                </a:solidFill>
                <a:latin typeface="Open Sans"/>
              </a:rPr>
              <a:t>Afterwards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Next fix on the cycle: plan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r1.12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by PR on the line; the line's next release builds on the synced CHANGELOG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Retire the line: set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target_release_type: none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, close the issue, an admin deletes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maintenance/r1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;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release/r1.Y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branches keep every release reachable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Branch protection: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maintenance/**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is created and deleted by the automation (admins for retirement); changes go by PR with codeowner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Validation on a maintenance line</a:t>
            </a:r>
            <a:br/>
            <a:r>
              <a:rPr>
                <a:latin typeface="Montserrat Light"/>
              </a:rPr>
              <a:t>rules that know the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8056" y="1527048"/>
          <a:ext cx="10616182" cy="2286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72782"/>
                <a:gridCol w="6955430"/>
                <a:gridCol w="228797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Open Sans"/>
                        </a:rPr>
                        <a:t>Rule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Open Sans"/>
                        </a:rPr>
                        <a:t>What it checks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Open Sans"/>
                        </a:rPr>
                        <a:t>Where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Courier New"/>
                        </a:rPr>
                        <a:t>P-041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6B7B84"/>
                          </a:solidFill>
                          <a:latin typeface="Open Sans"/>
                        </a:rPr>
                        <a:t>plan fits its line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A cycle with a public release gets only maintenance-release or pre-release-rc, with the cycle's next tag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On maintenance/rX only rX.*; main must not plan rX.* once the branch exists or a later cycle has released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PRs on main and on the line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Courier New"/>
                        </a:rPr>
                        <a:t>P-042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6B7B84"/>
                          </a:solidFill>
                          <a:latin typeface="Open Sans"/>
                        </a:rPr>
                        <a:t>API versions are patches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Same API set as the patched release, no major change, patch bumps only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0.y.z: always patch only; x ≥ 1: a minor bump only if a later cycle published a higher major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PRs on the line (and case A on main)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Courier New"/>
                        </a:rPr>
                        <a:t>P-035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6B7B84"/>
                          </a:solidFill>
                          <a:latin typeface="Open Sans"/>
                        </a:rPr>
                        <a:t>published history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Plan stays consistent with the published releases of its own line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scoped to the line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Courier New"/>
                        </a:rPr>
                        <a:t>P-033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6B7B84"/>
                          </a:solidFill>
                          <a:latin typeface="Open Sans"/>
                        </a:rPr>
                        <a:t>active release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release-plan.yaml changes are blocked only while a release of the same line is active (snapshot or draft)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a release on the other line does not block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8056" y="4270248"/>
            <a:ext cx="10616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2A30"/>
                </a:solidFill>
                <a:latin typeface="Open Sans"/>
              </a:rPr>
              <a:t>What a codeowner sees on the PR (messages name the branch and the patched release)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4562856"/>
            <a:ext cx="10616184" cy="14173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t" wrap="square" lIns="109728" rIns="109728" tIns="65836" bIns="65836"/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21075"/>
                </a:solidFill>
                <a:latin typeface="Courier New"/>
              </a:rPr>
              <a:t>❌ [P-042] </a:t>
            </a:r>
            <a:r>
              <a:rPr sz="850" b="0" i="0">
                <a:solidFill>
                  <a:srgbClr val="1F2A30"/>
                </a:solidFill>
                <a:latin typeface="Courier New"/>
              </a:rPr>
              <a:t>on 'maintenance/r1', which maintains release cycle r1 from r1.10: API 'sample-service' changes '0.1.3' in r1.10 to '0.2.0'; for 0.y.z versions the minor version is breaking, so a maintenance line allows only patch versions.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2A30"/>
                </a:solidFill>
                <a:latin typeface="Courier New"/>
              </a:rPr>
              <a:t>Suggestion: </a:t>
            </a:r>
            <a:r>
              <a:rPr sz="850" b="0" i="0">
                <a:solidFill>
                  <a:srgbClr val="1F2A30"/>
                </a:solidFill>
                <a:latin typeface="Courier New"/>
              </a:rPr>
              <a:t>Keep '0.1.3' or raise only its patch version for a maintenance release of r1.10; a new minor or major version of 'sample-service' is released from main in a later release cycle (r2.y).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F2A30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21075"/>
                </a:solidFill>
                <a:latin typeface="Courier New"/>
              </a:rPr>
              <a:t>❌ [P-041] </a:t>
            </a:r>
            <a:r>
              <a:rPr sz="850" b="0" i="0">
                <a:solidFill>
                  <a:srgbClr val="1F2A30"/>
                </a:solidFill>
                <a:latin typeface="Courier New"/>
              </a:rPr>
              <a:t>release 'r2.2' is already published in a later cycle, so main can no longer release in cycle r1; maintenance releases of r1 need the branch 'maintenance/r1'.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F2A30"/>
                </a:solidFill>
                <a:latin typeface="Courier New"/>
              </a:rPr>
              <a:t>Suggestion: </a:t>
            </a:r>
            <a:r>
              <a:rPr sz="850" b="0" i="0">
                <a:solidFill>
                  <a:srgbClr val="1F2A30"/>
                </a:solidFill>
                <a:latin typeface="Courier New"/>
              </a:rPr>
              <a:t>Create 'maintenance/r1' from main: Actions → CAMARA Release Automation → Run workflow, action create-maintenance-branch, cycle r1. Then plan 'r1.9' there, or plan a later release on main.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CHANGELOG and Latest</a:t>
            </a:r>
            <a:br/>
            <a:r>
              <a:rPr>
                <a:latin typeface="Montserrat Light"/>
              </a:rPr>
              <a:t>what the automation writes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527048"/>
            <a:ext cx="6583680" cy="4526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591056"/>
            <a:ext cx="6309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CHANGELOG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938528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The automation writes one file per cycle: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CHANGELOG/CHANGELOG-rX.md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. An existing root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CHANGELOG.md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stays, but is not maintained by it.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Candidate changes come from the release's own branch; an API released at its earlier version is listed as unchanged.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" y="2852928"/>
          <a:ext cx="6309359" cy="197510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00882"/>
                <a:gridCol w="470847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Open Sans"/>
                        </a:rPr>
                        <a:t>Release type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Open Sans"/>
                        </a:rPr>
                        <a:t>Compared to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Open Sans"/>
                        </a:rPr>
                        <a:t>alpha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previous release of any type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Open Sans"/>
                        </a:rPr>
                        <a:t>first rc of a cycle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previous public release; on a maintenance line the patched release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Open Sans"/>
                        </a:rPr>
                        <a:t>later rc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previous rc of the cycle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Open Sans"/>
                        </a:rPr>
                        <a:t>public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previous public release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04750"/>
                          </a:solidFill>
                          <a:latin typeface="Open Sans"/>
                        </a:rPr>
                        <a:t>maintenance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004750"/>
                          </a:solidFill>
                          <a:latin typeface="Open Sans"/>
                        </a:rPr>
                        <a:t>patched release (newest public or maintenance release of the cycle)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" y="4910328"/>
            <a:ext cx="63093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“Previous” is ordered by tag version (cycle, then number), not by date.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After publication the section goes by PR into the line and into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(case B), or into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with the README block (from main).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527048"/>
            <a:ext cx="3803903" cy="4526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97496" y="1591056"/>
            <a:ext cx="3529583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2A30"/>
                </a:solidFill>
                <a:latin typeface="Open Sans"/>
              </a:rPr>
              <a:t>Latest on GitHub</a:t>
            </a:r>
          </a:p>
        </p:txBody>
      </p:sp>
      <p:sp>
        <p:nvSpPr>
          <p:cNvPr id="10" name="Oval 9"/>
          <p:cNvSpPr/>
          <p:nvPr/>
        </p:nvSpPr>
        <p:spPr>
          <a:xfrm>
            <a:off x="7470648" y="2148840"/>
            <a:ext cx="310896" cy="310896"/>
          </a:xfrm>
          <a:prstGeom prst="ellipse">
            <a:avLst/>
          </a:prstGeom>
          <a:solidFill>
            <a:srgbClr val="3A9BF3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6" y="2121408"/>
            <a:ext cx="20116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r2.2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public,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19456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DBF11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F2A30"/>
                </a:solidFill>
                <a:latin typeface="Open Sans"/>
              </a:rPr>
              <a:t>Latest</a:t>
            </a:r>
          </a:p>
        </p:txBody>
      </p:sp>
      <p:sp>
        <p:nvSpPr>
          <p:cNvPr id="13" name="Oval 12"/>
          <p:cNvSpPr/>
          <p:nvPr/>
        </p:nvSpPr>
        <p:spPr>
          <a:xfrm>
            <a:off x="7470648" y="2834640"/>
            <a:ext cx="310896" cy="310896"/>
          </a:xfrm>
          <a:prstGeom prst="ellipse">
            <a:avLst/>
          </a:prstGeom>
          <a:solidFill>
            <a:srgbClr val="2FB8AE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416" y="2807208"/>
            <a:ext cx="20116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A30"/>
                </a:solidFill>
                <a:latin typeface="Courier New"/>
              </a:rPr>
              <a:t>r1.11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maintenance, published later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288036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B84"/>
                </a:solidFill>
                <a:latin typeface="Open Sans"/>
              </a:rPr>
              <a:t>not 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3584448"/>
            <a:ext cx="3529583" cy="3017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A patch of an older cycle never takes Latest from a later cycle's public or maintenance release.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It takes Latest only while the later cycle has pre-releases alone.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GitHub marks every published release Latest; the automation sets it back when needed.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00" b="1" i="0">
                <a:solidFill>
                  <a:srgbClr val="1F2A30"/>
                </a:solidFill>
                <a:latin typeface="Open Sans"/>
              </a:rPr>
              <a:t>Pointers as before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Courier New"/>
              </a:rPr>
              <a:t>source/rX.Y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on the line's branch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Courier New"/>
              </a:rPr>
              <a:t>release/rX.Y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or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pre-release/rX.Y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pointer branch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Better feedback, built-in recovery</a:t>
            </a:r>
            <a:br/>
            <a:r>
              <a:rPr>
                <a:latin typeface="Montserrat Light"/>
              </a:rPr>
              <a:t>and what to do if a step fails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52704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On every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" y="2002536"/>
            <a:ext cx="3386328" cy="31546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2984" y="152704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In the Release 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2984" y="2002536"/>
            <a:ext cx="3386328" cy="31546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77912" y="152704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E21075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If a step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77912" y="2002536"/>
            <a:ext cx="3386328" cy="31546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093976"/>
            <a:ext cx="311200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The step summary says what the run saw and did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6B7B84"/>
                </a:solidFill>
                <a:latin typeface="Open Sans"/>
              </a:rPr>
              <a:t>Actions › the run ›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71576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B7B84"/>
                </a:solidFill>
                <a:latin typeface="Open Sans"/>
              </a:rPr>
              <a:t>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99616" y="2734056"/>
            <a:ext cx="2106168" cy="274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lIns="73152" rIns="73152" tIns="43891" bIns="43891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F2A30"/>
                </a:solidFill>
                <a:latin typeface="Courier New"/>
              </a:rPr>
              <a:t>push to maintenance/r1 (release-plan.yaml)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08152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B7B84"/>
                </a:solidFill>
                <a:latin typeface="Open Sans"/>
              </a:rPr>
              <a:t>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99616" y="3099816"/>
            <a:ext cx="2106168" cy="274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lIns="73152" rIns="73152" tIns="43891" bIns="43891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F2A30"/>
                </a:solidFill>
                <a:latin typeface="Courier New"/>
              </a:rPr>
              <a:t>maintenance/r1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44728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B7B84"/>
                </a:solidFill>
                <a:latin typeface="Open Sans"/>
              </a:rPr>
              <a:t>State seen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99616" y="3465576"/>
            <a:ext cx="2106168" cy="274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lIns="73152" rIns="73152" tIns="43891" bIns="43891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F2A30"/>
                </a:solidFill>
                <a:latin typeface="Courier New"/>
              </a:rPr>
              <a:t>planned, Release Issue #147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81304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B7B84"/>
                </a:solidFill>
                <a:latin typeface="Open Sans"/>
              </a:rPr>
              <a:t>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99616" y="3831335"/>
            <a:ext cx="2106168" cy="274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2700">
            <a:solidFill>
              <a:srgbClr val="C9D4DC"/>
            </a:solidFill>
          </a:ln>
        </p:spPr>
        <p:txBody>
          <a:bodyPr rtlCol="0" anchor="ctr" wrap="square" lIns="73152" rIns="73152" tIns="43891" bIns="43891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F2A30"/>
                </a:solidFill>
                <a:latin typeface="Courier New"/>
              </a:rPr>
              <a:t>Release Issue synced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270248"/>
            <a:ext cx="311200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Answers “why did nothing happen?”: a push that changed nothing, a dispatch on the wrong branch, a precondition that failed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Fewer noise runs: the bot's own issue writes no longer trigger runs; concurrency at job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0144" y="2093976"/>
            <a:ext cx="3112008" cy="2971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Replies follow the real state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Courier New"/>
              </a:rPr>
              <a:t>/sync-issue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answers with a result, no more “Processing”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the valid-actions list matches the state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texts on a maintenance line name the line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Common files (Commonalities cache)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stale cache → one sync PR per line, with a comment when it is created and when the cache is in sync again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while stale,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/create-snapshot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is blocked and the valid actions point to the sync 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5072" y="2093976"/>
            <a:ext cx="3112008" cy="2971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Release published, but a post-release step failed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e.g. the sync PR could not be created; the release itself is fine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the Release Issue stays open and names the retry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comment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/sync-issue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, or dispatch </a:t>
            </a:r>
            <a:r>
              <a:rPr sz="950" b="0" i="0">
                <a:solidFill>
                  <a:srgbClr val="004750"/>
                </a:solidFill>
                <a:latin typeface="Courier New"/>
              </a:rPr>
              <a:t>sync-issue</a:t>
            </a:r>
            <a:r>
              <a:rPr sz="950" b="0" i="0">
                <a:solidFill>
                  <a:srgbClr val="004750"/>
                </a:solidFill>
                <a:latin typeface="Open Sans"/>
              </a:rPr>
              <a:t> on the line's branch: the steps run again and the issue closes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A dispatch was refused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the run fails and the step summary says which precondition was not met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050" b="1" i="0">
                <a:solidFill>
                  <a:srgbClr val="1F2A30"/>
                </a:solidFill>
                <a:latin typeface="Open Sans"/>
              </a:rPr>
              <a:t>A command was rejected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950" b="0" i="0">
                <a:solidFill>
                  <a:srgbClr val="004750"/>
                </a:solidFill>
                <a:latin typeface="Open Sans"/>
              </a:rPr>
              <a:t>the reply lists the actions valid in the current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5276088"/>
            <a:ext cx="10616184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321808"/>
            <a:ext cx="10341863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2A30"/>
                </a:solidFill>
                <a:latin typeface="Open Sans"/>
              </a:rPr>
              <a:t>🔁 Post-release steps run again — State: published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004750"/>
                </a:solidFill>
                <a:latin typeface="Open Sans"/>
              </a:rPr>
              <a:t>Post-release sync PR: #149 and #150 into main (requires codeowner merge). This issue is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861304"/>
            <a:ext cx="106161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1">
                <a:solidFill>
                  <a:srgbClr val="6B7B84"/>
                </a:solidFill>
                <a:latin typeface="Open Sans"/>
              </a:rPr>
              <a:t>bot reply after /sync-issue repaired a publication (ReleaseTest2 #147)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Under the hood</a:t>
            </a:r>
            <a:br/>
            <a:r>
              <a:rPr>
                <a:latin typeface="Montserrat Light"/>
              </a:rPr>
              <a:t>one slide for the curious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2715768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1F2A30"/>
          </a:solidFill>
          <a:ln>
            <a:noFill/>
          </a:ln>
        </p:spPr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plan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trigger, line, state, common cache, command policy, one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7016" y="2029968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snapshot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/create-snapshot: validation, snapshot branch, Release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57016" y="3401568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act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discard, delete-draft, publish, draft on merge, auto-reopen, create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6" y="2715768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tIns="54864" bIns="54864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finalize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sync PRs, common sync, Release Issue, result comment, step summary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642616" y="2647188"/>
            <a:ext cx="914400" cy="68580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cxnSp>
        <p:nvCxnSpPr>
          <p:cNvPr id="8" name="Connector 7"/>
          <p:cNvCxnSpPr/>
          <p:nvPr/>
        </p:nvCxnSpPr>
        <p:spPr>
          <a:xfrm>
            <a:off x="2642616" y="3332988"/>
            <a:ext cx="914400" cy="68580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5568696" y="2647188"/>
            <a:ext cx="914400" cy="68580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 flipV="1">
            <a:off x="5568696" y="3332988"/>
            <a:ext cx="914400" cy="68580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1636776" y="3950208"/>
            <a:ext cx="0" cy="1143000"/>
          </a:xfrm>
          <a:prstGeom prst="line">
            <a:avLst/>
          </a:prstGeom>
          <a:ln w="15875">
            <a:solidFill>
              <a:srgbClr val="6B7B84"/>
            </a:solidFill>
            <a:prstDash val="dash"/>
          </a:ln>
        </p:spPr>
      </p:cxnSp>
      <p:cxnSp>
        <p:nvCxnSpPr>
          <p:cNvPr id="12" name="Connector 11"/>
          <p:cNvCxnSpPr/>
          <p:nvPr/>
        </p:nvCxnSpPr>
        <p:spPr>
          <a:xfrm>
            <a:off x="1636776" y="5093208"/>
            <a:ext cx="5852160" cy="0"/>
          </a:xfrm>
          <a:prstGeom prst="line">
            <a:avLst/>
          </a:prstGeom>
          <a:ln w="15875">
            <a:solidFill>
              <a:srgbClr val="6B7B84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 flipV="1">
            <a:off x="7488936" y="3950208"/>
            <a:ext cx="0" cy="1143000"/>
          </a:xfrm>
          <a:prstGeom prst="line">
            <a:avLst/>
          </a:prstGeom>
          <a:ln w="15875">
            <a:solidFill>
              <a:srgbClr val="6B7B84"/>
            </a:solidFill>
            <a:prstDash val="dash"/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3008376" y="486460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6B7B84"/>
                </a:solidFill>
                <a:latin typeface="Open Sans"/>
              </a:rPr>
              <a:t>push, dispatch, sync-issue, issue close: no action, straight to finalize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664208"/>
            <a:ext cx="2203704" cy="4206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Reusable workflow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four jobs instead of a dozen; logic in tested Python modules, not inline scripts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the state is derived once (plan) and passed on as a document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Tooling checkout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follows the exact commit of the called workflow; no override input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Caller workflow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push on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maintenance/**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, dispatch actions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sync-issue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and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create-maintenance-branch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000" b="0" i="0">
                <a:solidFill>
                  <a:srgbClr val="004750"/>
                </a:solidFill>
                <a:latin typeface="Open Sans"/>
              </a:rPr>
              <a:t>retired v0 linting workflows removed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Rollout and open points</a:t>
            </a:r>
            <a:br/>
            <a:r>
              <a:rPr>
                <a:latin typeface="Montserrat Light"/>
              </a:rPr>
              <a:t>status as of the presentation 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984248"/>
            <a:ext cx="1867204" cy="1051560"/>
          </a:xfrm>
          <a:prstGeom prst="roundRect">
            <a:avLst>
              <a:gd name="adj" fmla="val 12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Tooling branch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urier New"/>
              </a:rPr>
              <a:t>release-automation-refactor
tag ra-v1-rc2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5898" y="1682495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B8AE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FB8AE"/>
                </a:solidFill>
                <a:latin typeface="Open Sans"/>
              </a:rPr>
              <a:t>done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42692" y="2505456"/>
            <a:ext cx="26517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635300" y="1984248"/>
            <a:ext cx="1867204" cy="1051560"/>
          </a:xfrm>
          <a:prstGeom prst="roundRect">
            <a:avLst>
              <a:gd name="adj" fmla="val 12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ReleaseTest2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end-to-end tests of both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3143" y="1682495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B8AE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FB8AE"/>
                </a:solidFill>
                <a:latin typeface="Open Sans"/>
              </a:rPr>
              <a:t>done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29937" y="2505456"/>
            <a:ext cx="26517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4822545" y="1984248"/>
            <a:ext cx="1867204" cy="1051560"/>
          </a:xfrm>
          <a:prstGeom prst="roundRect">
            <a:avLst>
              <a:gd name="adj" fmla="val 12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Pilot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Open Sans"/>
              </a:rPr>
              <a:t>repositories on the independent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0388" y="1682495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9BF3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3A9BF3"/>
                </a:solidFill>
                <a:latin typeface="Open Sans"/>
              </a:rPr>
              <a:t>now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17182" y="2505456"/>
            <a:ext cx="26517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7009790" y="1984248"/>
            <a:ext cx="1867204" cy="10515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Maintenance branch needed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every repository that needs one 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7632" y="1682495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7B84"/>
                </a:solidFill>
                <a:latin typeface="Open San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04427" y="2505456"/>
            <a:ext cx="265176" cy="0"/>
          </a:xfrm>
          <a:prstGeom prst="line">
            <a:avLst/>
          </a:prstGeom>
          <a:ln w="19050">
            <a:solidFill>
              <a:srgbClr val="1F2A30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9197035" y="1984248"/>
            <a:ext cx="1867204" cy="105156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 lIns="73152" rIns="73152" tIns="43891" bIns="43891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A30"/>
                </a:solidFill>
                <a:latin typeface="Open Sans"/>
              </a:rPr>
              <a:t>Merge into main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A30"/>
                </a:solidFill>
                <a:latin typeface="Open Sans"/>
              </a:rPr>
              <a:t>all repositories via @v1-rc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64877" y="1682495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4DC"/>
            </a:solidFill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7B84"/>
                </a:solidFill>
                <a:latin typeface="Open Sans"/>
              </a:rPr>
              <a:t>then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3401568"/>
            <a:ext cx="10616184" cy="2514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493008"/>
            <a:ext cx="10341863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A30"/>
                </a:solidFill>
                <a:latin typeface="Open Sans"/>
              </a:rPr>
              <a:t>Not yet decided or in progress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5216" y="3858768"/>
          <a:ext cx="10341863" cy="18288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7521355"/>
                <a:gridCol w="282050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Open Sans"/>
                        </a:rPr>
                        <a:t>Topic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ourier New"/>
                        </a:rPr>
                        <a:t>Where</a:t>
                      </a:r>
                    </a:p>
                  </a:txBody>
                  <a:tcPr marL="64008" marR="64008" marT="36576" marB="36576" anchor="ctr">
                    <a:solidFill>
                      <a:srgbClr val="3A9BF3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Open Sans"/>
                        </a:rPr>
                        <a:t>Publish mode of maintenance releases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Courier New"/>
                        </a:rPr>
                        <a:t>ReleaseManagement#675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Open Sans"/>
                        </a:rPr>
                        <a:t>README release information: describe the release on its tag, not the repository state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Courier New"/>
                        </a:rPr>
                        <a:t>ReleaseManagement#730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Open Sans"/>
                        </a:rPr>
                        <a:t>Which release lines count as supported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Courier New"/>
                        </a:rPr>
                        <a:t>ReleaseManagement#459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Open Sans"/>
                        </a:rPr>
                        <a:t>ReleaseManagement documentation for maintenance releases (maintenance-releases.md)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4750"/>
                          </a:solidFill>
                          <a:latin typeface="Courier New"/>
                        </a:rPr>
                        <a:t>update pending</a:t>
                      </a:r>
                    </a:p>
                  </a:txBody>
                  <a:tcPr marL="64008" marR="64008" marT="36576" marB="36576" anchor="ctr">
                    <a:solidFill>
                      <a:srgbClr val="F2F6F9"/>
                    </a:solidFill>
                    <a:lnL w="9525" cap="flat" cmpd="sng" algn="ctr">
                      <a:solidFill>
                        <a:srgbClr val="C9D4DC"/>
                      </a:solidFill>
                      <a:prstDash val="solid"/>
                    </a:lnL>
                    <a:lnR w="9525" cap="flat" cmpd="sng" algn="ctr">
                      <a:solidFill>
                        <a:srgbClr val="C9D4DC"/>
                      </a:solidFill>
                      <a:prstDash val="solid"/>
                    </a:lnR>
                    <a:lnT w="9525" cap="flat" cmpd="sng" algn="ctr">
                      <a:solidFill>
                        <a:srgbClr val="C9D4DC"/>
                      </a:solidFill>
                      <a:prstDash val="solid"/>
                    </a:lnT>
                    <a:lnB w="9525" cap="flat" cmpd="sng" algn="ctr">
                      <a:solidFill>
                        <a:srgbClr val="C9D4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48056" y="5669280"/>
            <a:ext cx="106161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B7B84"/>
                </a:solidFill>
                <a:latin typeface="Open Sans"/>
              </a:rPr>
              <a:t>Repositories outside the pilot stay on the current @v1-rc automation until the merge into main.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 ExtraBold"/>
              </a:rPr>
              <a:t>Branches and tags</a:t>
            </a:r>
            <a:br/>
            <a:r>
              <a:rPr>
                <a:latin typeface="Montserrat Light"/>
              </a:rPr>
              <a:t>keep, delete, retire a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93852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2FB8AE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Keep (protected)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" y="2414016"/>
            <a:ext cx="3386328" cy="2377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532888"/>
            <a:ext cx="3112008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release/rX.Y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pointer branches of public and maintenance releases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tags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: never deleted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maintenance/rX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while the line is active; created by the automation, changed by PR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2984" y="193852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3A9BF3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Delete when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2984" y="2414016"/>
            <a:ext cx="3386328" cy="2377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144" y="2532888"/>
            <a:ext cx="3112008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pre-release/rX.Y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after the public release of the cycle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release-review/rX.Y-…-preserved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Courier New"/>
              </a:rPr>
              <a:t>pr-to-main/rX.Y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,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pr-to-maintenance/rX/rX.Y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,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sync-common/…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after their PR merged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older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source/rX.Y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reference 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77912" y="1938528"/>
            <a:ext cx="3386328" cy="384048"/>
          </a:xfrm>
          <a:prstGeom prst="roundRect">
            <a:avLst>
              <a:gd name="adj" fmla="val 50000"/>
            </a:avLst>
          </a:prstGeom>
          <a:solidFill>
            <a:srgbClr val="6B7B84"/>
          </a:solidFill>
          <a:ln>
            <a:noFill/>
          </a:ln>
        </p:spPr>
        <p:txBody>
          <a:bodyPr rtlCol="0" anchor="ctr" wrap="square" lIns="54864" rIns="54864" tIns="32918" bIns="3291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Open Sans"/>
              </a:rPr>
              <a:t>Retire a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77912" y="2414016"/>
            <a:ext cx="3386328" cy="2377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5072" y="2532888"/>
            <a:ext cx="3112008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1. set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target_release_type: none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on the line (by PR)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2. close the line's Release Issue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3. an admin deletes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maintenance/rX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(ruleset bypass)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004750"/>
                </a:solidFill>
                <a:latin typeface="Open Sans"/>
              </a:rPr>
              <a:t>every release stays reachable through </a:t>
            </a:r>
            <a:r>
              <a:rPr sz="1100" b="0" i="0">
                <a:solidFill>
                  <a:srgbClr val="004750"/>
                </a:solidFill>
                <a:latin typeface="Courier New"/>
              </a:rPr>
              <a:t>release/rX.Y</a:t>
            </a:r>
            <a:r>
              <a:rPr sz="1100" b="0" i="0">
                <a:solidFill>
                  <a:srgbClr val="004750"/>
                </a:solidFill>
                <a:latin typeface="Open Sans"/>
              </a:rPr>
              <a:t> and its tag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" y="5001768"/>
            <a:ext cx="10616184" cy="640080"/>
          </a:xfrm>
          <a:prstGeom prst="roundRect">
            <a:avLst>
              <a:gd name="adj" fmla="val 6000"/>
            </a:avLst>
          </a:prstGeom>
          <a:solidFill>
            <a:srgbClr val="D8EBFD"/>
          </a:solidFill>
          <a:ln>
            <a:noFill/>
          </a:ln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5047488"/>
            <a:ext cx="103418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2A30"/>
                </a:solidFill>
                <a:latin typeface="Open Sans"/>
              </a:rPr>
              <a:t>Branch protection: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release-snapshot/*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and </a:t>
            </a:r>
            <a:r>
              <a:rPr sz="1000" b="0" i="0">
                <a:solidFill>
                  <a:srgbClr val="004750"/>
                </a:solidFill>
                <a:latin typeface="Courier New"/>
              </a:rPr>
              <a:t>maintenance/**</a:t>
            </a:r>
            <a:r>
              <a:rPr sz="1000" b="0" i="0">
                <a:solidFill>
                  <a:srgbClr val="004750"/>
                </a:solidFill>
                <a:latin typeface="Open Sans"/>
              </a:rPr>
              <a:t> are rulesets with the automation as bypass actor; humans change them by PR only. Recommended clean-up time for intermediary branches: after the public release of the cycle.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0"/>
  <p:tag name="ARTICULATE_PROJECT_OPEN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tecon_Master">
  <a:themeElements>
    <a:clrScheme name="2FB8AE">
      <a:dk1>
        <a:srgbClr val="000000"/>
      </a:dk1>
      <a:lt1>
        <a:srgbClr val="FFFFFF"/>
      </a:lt1>
      <a:dk2>
        <a:srgbClr val="404041"/>
      </a:dk2>
      <a:lt2>
        <a:srgbClr val="EEEEEE"/>
      </a:lt2>
      <a:accent1>
        <a:srgbClr val="06C5F8"/>
      </a:accent1>
      <a:accent2>
        <a:srgbClr val="3A9BF3"/>
      </a:accent2>
      <a:accent3>
        <a:srgbClr val="2FB8AE"/>
      </a:accent3>
      <a:accent4>
        <a:srgbClr val="BECA41"/>
      </a:accent4>
      <a:accent5>
        <a:srgbClr val="FDBF11"/>
      </a:accent5>
      <a:accent6>
        <a:srgbClr val="E21075"/>
      </a:accent6>
      <a:hlink>
        <a:srgbClr val="3A9BF3"/>
      </a:hlink>
      <a:folHlink>
        <a:srgbClr val="3A9BF3"/>
      </a:folHlink>
    </a:clrScheme>
    <a:fontScheme name="Detec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0D0D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Gelb Hell">
      <a:srgbClr val="FFDE5D"/>
    </a:custClr>
    <a:custClr name="Gelb Dunkel">
      <a:srgbClr val="DBAD39"/>
    </a:custClr>
    <a:custClr name="Orange Hell">
      <a:srgbClr val="FFB356"/>
    </a:custClr>
    <a:custClr name="Orange Dunkel">
      <a:srgbClr val="D48936"/>
    </a:custClr>
    <a:custClr name="Hellblau Hell">
      <a:srgbClr val="7ECBF5"/>
    </a:custClr>
    <a:custClr name="Hellblau Dunkel">
      <a:srgbClr val="317CB3"/>
    </a:custClr>
    <a:custClr name="Dunkelblau Hell">
      <a:srgbClr val="529AD6"/>
    </a:custClr>
    <a:custClr name="Dunkelblau Dunkel">
      <a:srgbClr val="235482"/>
    </a:custClr>
    <a:custClr name="Petrol Hell">
      <a:srgbClr val="65C8C0"/>
    </a:custClr>
    <a:custClr name="Petrol Dunkel">
      <a:srgbClr val="218076"/>
    </a:custClr>
    <a:custClr name="Grün Hell">
      <a:srgbClr val="CFD873"/>
    </a:custClr>
    <a:custClr name="Grün Dunkel">
      <a:srgbClr val="889130"/>
    </a:custClr>
    <a:custClr name="Schwarz">
      <a:srgbClr val="000000"/>
    </a:custClr>
    <a:custClr name="Grau 38">
      <a:srgbClr val="262626"/>
    </a:custClr>
    <a:custClr name="Grau 5">
      <a:srgbClr val="4B4B4B"/>
    </a:custClr>
    <a:custClr name="Grau 3">
      <a:srgbClr val="6C6C6C"/>
    </a:custClr>
    <a:custClr name="Grau 2">
      <a:srgbClr val="7C7C7C"/>
    </a:custClr>
    <a:custClr name="Grau 1">
      <a:srgbClr val="A4A4A4"/>
    </a:custClr>
    <a:custClr name="Grau 6">
      <a:srgbClr val="D0D0D0"/>
    </a:custClr>
    <a:custClr name="Grau 230">
      <a:srgbClr val="E6E6E6"/>
    </a:custClr>
    <a:custClr name="Grau 4">
      <a:srgbClr val="EDEDED"/>
    </a:custClr>
  </a:custClrLst>
  <a:extLst>
    <a:ext uri="{05A4C25C-085E-4340-85A3-A5531E510DB2}">
      <thm15:themeFamily xmlns:thm15="http://schemas.microsoft.com/office/thememl/2012/main" name="CAMARA Master Template.potx" id="{04A64C77-3702-487F-8FF4-D54C7EDECC02}" vid="{74A7C627-616C-49F6-8964-9251D8F235AF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44AD662EB7A25499208DD4235E5F8D6" ma:contentTypeVersion="16" ma:contentTypeDescription="Ein neues Dokument erstellen." ma:contentTypeScope="" ma:versionID="38c2c29699ff48da406f3f18a670bd34">
  <xsd:schema xmlns:xsd="http://www.w3.org/2001/XMLSchema" xmlns:xs="http://www.w3.org/2001/XMLSchema" xmlns:p="http://schemas.microsoft.com/office/2006/metadata/properties" xmlns:ns2="6126070c-0864-4b03-b2dc-aab5d8c39348" xmlns:ns3="97396690-0b91-46d2-ad5a-06f45914e19c" targetNamespace="http://schemas.microsoft.com/office/2006/metadata/properties" ma:root="true" ma:fieldsID="404cda9ff7a6f2265884b8fbd76166fc" ns2:_="" ns3:_="">
    <xsd:import namespace="6126070c-0864-4b03-b2dc-aab5d8c39348"/>
    <xsd:import namespace="97396690-0b91-46d2-ad5a-06f45914e1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6070c-0864-4b03-b2dc-aab5d8c393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55a6c181-b3a6-4e6d-958a-84db063416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96690-0b91-46d2-ad5a-06f45914e19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e948aa-5406-442d-a9f3-76bef890740c}" ma:internalName="TaxCatchAll" ma:showField="CatchAllData" ma:web="97396690-0b91-46d2-ad5a-06f45914e1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F0326B-7C1A-45A3-8DA0-69177D7DF1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677FE1-723C-482F-8191-BAFB49904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6070c-0864-4b03-b2dc-aab5d8c39348"/>
    <ds:schemaRef ds:uri="97396690-0b91-46d2-ad5a-06f45914e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Detecon_Master</Template>
  <TotalTime>6645</TotalTime>
  <Words>971</Words>
  <Application>Microsoft Office PowerPoint</Application>
  <PresentationFormat>Custom</PresentationFormat>
  <Paragraphs>147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Montserrat ExtraBold</vt:lpstr>
      <vt:lpstr>Calibri</vt:lpstr>
      <vt:lpstr>Wingdings 2</vt:lpstr>
      <vt:lpstr>Courier New</vt:lpstr>
      <vt:lpstr>Arial</vt:lpstr>
      <vt:lpstr>FlexoSoft</vt:lpstr>
      <vt:lpstr>Montserrat Black</vt:lpstr>
      <vt:lpstr>Montserrat Light</vt:lpstr>
      <vt:lpstr>Montserrat</vt:lpstr>
      <vt:lpstr>Open Sans</vt:lpstr>
      <vt:lpstr>Wingdings</vt:lpstr>
      <vt:lpstr>Detecon_Master</vt:lpstr>
      <vt:lpstr>think-cell Folie</vt:lpstr>
      <vt:lpstr>PowerPoint Presentation</vt:lpstr>
      <vt:lpstr>release-plan.yaml  the baseline for automation</vt:lpstr>
      <vt:lpstr>Release Issue steering the release process</vt:lpstr>
      <vt:lpstr>Release Process in a Nutshell</vt:lpstr>
      <vt:lpstr>Release automation commands Quick guide</vt:lpstr>
      <vt:lpstr>Status and next steps for API Teams</vt:lpstr>
      <vt:lpstr>Q&amp;A how/when to cleanup branches or tags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Damker</dc:creator>
  <cp:lastModifiedBy>Tanja De Groot (Nokia)</cp:lastModifiedBy>
  <cp:revision>8</cp:revision>
  <dcterms:created xsi:type="dcterms:W3CDTF">2025-12-08T19:37:20Z</dcterms:created>
  <dcterms:modified xsi:type="dcterms:W3CDTF">2026-03-09T11:01:09Z</dcterms:modified>
</cp:coreProperties>
</file>