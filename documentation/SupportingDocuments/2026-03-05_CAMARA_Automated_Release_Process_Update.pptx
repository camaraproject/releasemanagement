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3"/>
  </p:sldMasterIdLst>
  <p:notesMasterIdLst>
    <p:notesMasterId r:id="rId12"/>
  </p:notesMasterIdLst>
  <p:sldIdLst>
    <p:sldId id="2058" r:id="rId4"/>
    <p:sldId id="2061" r:id="rId5"/>
    <p:sldId id="2066" r:id="rId6"/>
    <p:sldId id="2060" r:id="rId7"/>
    <p:sldId id="2069" r:id="rId8"/>
    <p:sldId id="2071" r:id="rId9"/>
    <p:sldId id="2072" r:id="rId10"/>
    <p:sldId id="2057" r:id="rId11"/>
  </p:sldIdLst>
  <p:sldSz cx="11522075" cy="6484938"/>
  <p:notesSz cx="7315200" cy="12344400"/>
  <p:embeddedFontLst>
    <p:embeddedFont>
      <p:font typeface="FlexoSoft" panose="020B060402020202020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Black" panose="00000A00000000000000" pitchFamily="2" charset="0"/>
      <p:bold r:id="rId21"/>
      <p:italic r:id="rId22"/>
      <p:boldItalic r:id="rId23"/>
    </p:embeddedFont>
    <p:embeddedFont>
      <p:font typeface="Montserrat ExtraBold" panose="00000900000000000000" pitchFamily="2" charset="0"/>
      <p:bold r:id="rId24"/>
      <p:italic r:id="rId25"/>
      <p:boldItalic r:id="rId26"/>
    </p:embeddedFont>
    <p:embeddedFont>
      <p:font typeface="Montserrat Light" panose="00000400000000000000" pitchFamily="2" charset="0"/>
      <p:regular r:id="rId27"/>
      <p: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Wingdings 2" panose="05020102010507070707" pitchFamily="18" charset="2"/>
      <p:regular r:id="rId33"/>
    </p:embeddedFont>
  </p:embeddedFontLst>
  <p:custDataLst>
    <p:tags r:id="rId3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6C964C34-E9F5-4320-A6FA-D1BDB512744B}">
          <p14:sldIdLst>
            <p14:sldId id="2058"/>
            <p14:sldId id="2061"/>
            <p14:sldId id="2066"/>
            <p14:sldId id="2060"/>
            <p14:sldId id="2069"/>
            <p14:sldId id="2071"/>
            <p14:sldId id="2072"/>
            <p14:sldId id="20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7" userDrawn="1">
          <p15:clr>
            <a:srgbClr val="A4A3A4"/>
          </p15:clr>
        </p15:guide>
        <p15:guide id="2" pos="182" userDrawn="1">
          <p15:clr>
            <a:srgbClr val="A4A3A4"/>
          </p15:clr>
        </p15:guide>
        <p15:guide id="3" pos="1832" userDrawn="1">
          <p15:clr>
            <a:srgbClr val="A4A3A4"/>
          </p15:clr>
        </p15:guide>
        <p15:guide id="4" pos="1927" userDrawn="1">
          <p15:clr>
            <a:srgbClr val="A4A3A4"/>
          </p15:clr>
        </p15:guide>
        <p15:guide id="5" pos="3584" userDrawn="1">
          <p15:clr>
            <a:srgbClr val="A4A3A4"/>
          </p15:clr>
        </p15:guide>
        <p15:guide id="6" pos="3672" userDrawn="1">
          <p15:clr>
            <a:srgbClr val="A4A3A4"/>
          </p15:clr>
        </p15:guide>
        <p15:guide id="7" pos="5328" userDrawn="1">
          <p15:clr>
            <a:srgbClr val="A4A3A4"/>
          </p15:clr>
        </p15:guide>
        <p15:guide id="8" pos="5419" userDrawn="1">
          <p15:clr>
            <a:srgbClr val="A4A3A4"/>
          </p15:clr>
        </p15:guide>
        <p15:guide id="9" pos="7075" userDrawn="1">
          <p15:clr>
            <a:srgbClr val="A4A3A4"/>
          </p15:clr>
        </p15:guide>
        <p15:guide id="10" orient="horz" pos="322" userDrawn="1">
          <p15:clr>
            <a:srgbClr val="A4A3A4"/>
          </p15:clr>
        </p15:guide>
        <p15:guide id="11" orient="horz" pos="741" userDrawn="1">
          <p15:clr>
            <a:srgbClr val="A4A3A4"/>
          </p15:clr>
        </p15:guide>
        <p15:guide id="12" orient="horz" pos="1013" userDrawn="1">
          <p15:clr>
            <a:srgbClr val="A4A3A4"/>
          </p15:clr>
        </p15:guide>
        <p15:guide id="13" orient="horz" pos="3678" userDrawn="1">
          <p15:clr>
            <a:srgbClr val="A4A3A4"/>
          </p15:clr>
        </p15:guide>
        <p15:guide id="14" orient="horz" pos="3811" userDrawn="1">
          <p15:clr>
            <a:srgbClr val="A4A3A4"/>
          </p15:clr>
        </p15:guide>
        <p15:guide id="15" orient="horz" pos="39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E91F4C-DE4E-5E21-1782-0370BBF3D1F5}" name="Damker, Herbert" initials="HD" userId="S::Herbert.Damker@telekom.de::37ff36be-0e4d-42c3-ac06-7b904f0f6b24" providerId="AD"/>
  <p188:author id="{664133A9-D536-815A-34EC-B9961CC03EE9}" name="Tanja De Groot (Nokia)" initials="TD" userId="S::tanja.de_groot@nokia.com::01a78cc0-88b1-4873-a238-25bec9db6e0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9BF3"/>
    <a:srgbClr val="122769"/>
    <a:srgbClr val="014651"/>
    <a:srgbClr val="000620"/>
    <a:srgbClr val="004750"/>
    <a:srgbClr val="37FFFD"/>
    <a:srgbClr val="FFFFFF"/>
    <a:srgbClr val="A4A4A4"/>
    <a:srgbClr val="32B9AF"/>
    <a:srgbClr val="00A2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1D2C2-F596-4FBF-9545-8A20B4AD3CE4}" v="6" dt="2026-03-05T17:11:37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78"/>
    <p:restoredTop sz="94987" autoAdjust="0"/>
  </p:normalViewPr>
  <p:slideViewPr>
    <p:cSldViewPr snapToGrid="0">
      <p:cViewPr varScale="1">
        <p:scale>
          <a:sx n="86" d="100"/>
          <a:sy n="86" d="100"/>
        </p:scale>
        <p:origin x="782" y="106"/>
      </p:cViewPr>
      <p:guideLst>
        <p:guide orient="horz" pos="227"/>
        <p:guide pos="182"/>
        <p:guide pos="1832"/>
        <p:guide pos="1927"/>
        <p:guide pos="3584"/>
        <p:guide pos="3672"/>
        <p:guide pos="5328"/>
        <p:guide pos="5419"/>
        <p:guide pos="7075"/>
        <p:guide orient="horz" pos="322"/>
        <p:guide orient="horz" pos="741"/>
        <p:guide orient="horz" pos="1013"/>
        <p:guide orient="horz" pos="3678"/>
        <p:guide orient="horz" pos="3811"/>
        <p:guide orient="horz" pos="39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tableStyles" Target="tableStyles.xml"/><Relationship Id="rId21" Type="http://schemas.openxmlformats.org/officeDocument/2006/relationships/font" Target="fonts/font9.fntdata"/><Relationship Id="rId34" Type="http://schemas.openxmlformats.org/officeDocument/2006/relationships/tags" Target="tags/tag1.xml"/><Relationship Id="rId42" Type="http://schemas.microsoft.com/office/2018/10/relationships/authors" Target="author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ja De Groot (Nokia)" userId="01a78cc0-88b1-4873-a238-25bec9db6e06" providerId="ADAL" clId="{33AC5DB6-6098-4BA1-9615-8D690C6D0FD5}"/>
    <pc:docChg chg="custSel addSld delSld modSld modSection">
      <pc:chgData name="Tanja De Groot (Nokia)" userId="01a78cc0-88b1-4873-a238-25bec9db6e06" providerId="ADAL" clId="{33AC5DB6-6098-4BA1-9615-8D690C6D0FD5}" dt="2026-03-09T11:00:53.595" v="2487" actId="20577"/>
      <pc:docMkLst>
        <pc:docMk/>
      </pc:docMkLst>
      <pc:sldChg chg="modSp mod">
        <pc:chgData name="Tanja De Groot (Nokia)" userId="01a78cc0-88b1-4873-a238-25bec9db6e06" providerId="ADAL" clId="{33AC5DB6-6098-4BA1-9615-8D690C6D0FD5}" dt="2026-03-04T18:00:46.796" v="0" actId="20577"/>
        <pc:sldMkLst>
          <pc:docMk/>
          <pc:sldMk cId="1929345456" sldId="2057"/>
        </pc:sldMkLst>
        <pc:spChg chg="mod">
          <ac:chgData name="Tanja De Groot (Nokia)" userId="01a78cc0-88b1-4873-a238-25bec9db6e06" providerId="ADAL" clId="{33AC5DB6-6098-4BA1-9615-8D690C6D0FD5}" dt="2026-03-04T18:00:46.796" v="0" actId="20577"/>
          <ac:spMkLst>
            <pc:docMk/>
            <pc:sldMk cId="1929345456" sldId="2057"/>
            <ac:spMk id="2" creationId="{6566B094-40C3-D341-70A6-77319CB777DC}"/>
          </ac:spMkLst>
        </pc:spChg>
      </pc:sldChg>
      <pc:sldChg chg="modSp mod">
        <pc:chgData name="Tanja De Groot (Nokia)" userId="01a78cc0-88b1-4873-a238-25bec9db6e06" providerId="ADAL" clId="{33AC5DB6-6098-4BA1-9615-8D690C6D0FD5}" dt="2026-03-05T14:56:51.507" v="844" actId="1038"/>
        <pc:sldMkLst>
          <pc:docMk/>
          <pc:sldMk cId="0" sldId="2060"/>
        </pc:sldMkLst>
        <pc:picChg chg="mod">
          <ac:chgData name="Tanja De Groot (Nokia)" userId="01a78cc0-88b1-4873-a238-25bec9db6e06" providerId="ADAL" clId="{33AC5DB6-6098-4BA1-9615-8D690C6D0FD5}" dt="2026-03-05T14:56:51.507" v="844" actId="1038"/>
          <ac:picMkLst>
            <pc:docMk/>
            <pc:sldMk cId="0" sldId="2060"/>
            <ac:picMk id="5" creationId="{30261930-C0C7-F5CB-51BE-9BDDCE71D085}"/>
          </ac:picMkLst>
        </pc:picChg>
        <pc:picChg chg="mod">
          <ac:chgData name="Tanja De Groot (Nokia)" userId="01a78cc0-88b1-4873-a238-25bec9db6e06" providerId="ADAL" clId="{33AC5DB6-6098-4BA1-9615-8D690C6D0FD5}" dt="2026-03-05T14:56:34.559" v="787" actId="12789"/>
          <ac:picMkLst>
            <pc:docMk/>
            <pc:sldMk cId="0" sldId="2060"/>
            <ac:picMk id="9" creationId="{BF16BCD0-2792-F3B9-4EB7-252B5D68B3F9}"/>
          </ac:picMkLst>
        </pc:picChg>
        <pc:picChg chg="mod">
          <ac:chgData name="Tanja De Groot (Nokia)" userId="01a78cc0-88b1-4873-a238-25bec9db6e06" providerId="ADAL" clId="{33AC5DB6-6098-4BA1-9615-8D690C6D0FD5}" dt="2026-03-05T14:56:44.941" v="817" actId="1037"/>
          <ac:picMkLst>
            <pc:docMk/>
            <pc:sldMk cId="0" sldId="2060"/>
            <ac:picMk id="11" creationId="{09B55519-7ABB-B711-3BA1-3FCBA15F154F}"/>
          </ac:picMkLst>
        </pc:picChg>
      </pc:sldChg>
      <pc:sldChg chg="modSp mod">
        <pc:chgData name="Tanja De Groot (Nokia)" userId="01a78cc0-88b1-4873-a238-25bec9db6e06" providerId="ADAL" clId="{33AC5DB6-6098-4BA1-9615-8D690C6D0FD5}" dt="2026-03-05T10:36:56.437" v="446" actId="2711"/>
        <pc:sldMkLst>
          <pc:docMk/>
          <pc:sldMk cId="4230243161" sldId="2069"/>
        </pc:sldMkLst>
        <pc:spChg chg="mod">
          <ac:chgData name="Tanja De Groot (Nokia)" userId="01a78cc0-88b1-4873-a238-25bec9db6e06" providerId="ADAL" clId="{33AC5DB6-6098-4BA1-9615-8D690C6D0FD5}" dt="2026-03-05T10:36:56.437" v="446" actId="2711"/>
          <ac:spMkLst>
            <pc:docMk/>
            <pc:sldMk cId="4230243161" sldId="2069"/>
            <ac:spMk id="2" creationId="{552E0ECA-7ABF-418D-1E32-EE8D5E58B10D}"/>
          </ac:spMkLst>
        </pc:spChg>
      </pc:sldChg>
      <pc:sldChg chg="modSp add mod">
        <pc:chgData name="Tanja De Groot (Nokia)" userId="01a78cc0-88b1-4873-a238-25bec9db6e06" providerId="ADAL" clId="{33AC5DB6-6098-4BA1-9615-8D690C6D0FD5}" dt="2026-03-05T11:47:02.199" v="785" actId="20577"/>
        <pc:sldMkLst>
          <pc:docMk/>
          <pc:sldMk cId="140848334" sldId="2071"/>
        </pc:sldMkLst>
        <pc:spChg chg="mod">
          <ac:chgData name="Tanja De Groot (Nokia)" userId="01a78cc0-88b1-4873-a238-25bec9db6e06" providerId="ADAL" clId="{33AC5DB6-6098-4BA1-9615-8D690C6D0FD5}" dt="2026-03-05T11:29:09.458" v="453"/>
          <ac:spMkLst>
            <pc:docMk/>
            <pc:sldMk cId="140848334" sldId="2071"/>
            <ac:spMk id="2" creationId="{DEBF2C87-0300-E209-42E9-55167160743A}"/>
          </ac:spMkLst>
        </pc:spChg>
        <pc:spChg chg="mod">
          <ac:chgData name="Tanja De Groot (Nokia)" userId="01a78cc0-88b1-4873-a238-25bec9db6e06" providerId="ADAL" clId="{33AC5DB6-6098-4BA1-9615-8D690C6D0FD5}" dt="2026-03-05T11:47:02.199" v="785" actId="20577"/>
          <ac:spMkLst>
            <pc:docMk/>
            <pc:sldMk cId="140848334" sldId="2071"/>
            <ac:spMk id="3" creationId="{C52B3FAD-1561-03C3-EF81-47877913147D}"/>
          </ac:spMkLst>
        </pc:spChg>
      </pc:sldChg>
      <pc:sldChg chg="addSp modSp new mod">
        <pc:chgData name="Tanja De Groot (Nokia)" userId="01a78cc0-88b1-4873-a238-25bec9db6e06" providerId="ADAL" clId="{33AC5DB6-6098-4BA1-9615-8D690C6D0FD5}" dt="2026-03-09T11:00:53.595" v="2487" actId="20577"/>
        <pc:sldMkLst>
          <pc:docMk/>
          <pc:sldMk cId="1156330466" sldId="2072"/>
        </pc:sldMkLst>
        <pc:spChg chg="mod">
          <ac:chgData name="Tanja De Groot (Nokia)" userId="01a78cc0-88b1-4873-a238-25bec9db6e06" providerId="ADAL" clId="{33AC5DB6-6098-4BA1-9615-8D690C6D0FD5}" dt="2026-03-05T16:11:32.992" v="925" actId="20577"/>
          <ac:spMkLst>
            <pc:docMk/>
            <pc:sldMk cId="1156330466" sldId="2072"/>
            <ac:spMk id="2" creationId="{91DCABAF-06FD-944C-F872-324CC3313231}"/>
          </ac:spMkLst>
        </pc:spChg>
        <pc:spChg chg="mod">
          <ac:chgData name="Tanja De Groot (Nokia)" userId="01a78cc0-88b1-4873-a238-25bec9db6e06" providerId="ADAL" clId="{33AC5DB6-6098-4BA1-9615-8D690C6D0FD5}" dt="2026-03-09T11:00:53.595" v="2487" actId="20577"/>
          <ac:spMkLst>
            <pc:docMk/>
            <pc:sldMk cId="1156330466" sldId="2072"/>
            <ac:spMk id="3" creationId="{F7BF38D5-C759-79EF-999F-1B3DADD78BA3}"/>
          </ac:spMkLst>
        </pc:spChg>
        <pc:picChg chg="add mod modCrop">
          <ac:chgData name="Tanja De Groot (Nokia)" userId="01a78cc0-88b1-4873-a238-25bec9db6e06" providerId="ADAL" clId="{33AC5DB6-6098-4BA1-9615-8D690C6D0FD5}" dt="2026-03-05T17:29:29.020" v="2480" actId="732"/>
          <ac:picMkLst>
            <pc:docMk/>
            <pc:sldMk cId="1156330466" sldId="2072"/>
            <ac:picMk id="5" creationId="{94A0DF9E-9ECF-7145-654F-9BBE6E9070B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/>
          <a:lstStyle>
            <a:lvl1pPr algn="l">
              <a:defRPr sz="14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143589" y="0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/>
          <a:lstStyle>
            <a:lvl1pPr algn="r">
              <a:defRPr sz="1400"/>
            </a:lvl1pPr>
          </a:lstStyle>
          <a:p>
            <a:fld id="{9847C1C0-7CF7-4E43-8415-72BC7E37BCB3}" type="datetimeFigureOut">
              <a:rPr lang="de-DE" smtClean="0"/>
              <a:pPr/>
              <a:t>05.03.2026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454025" y="925513"/>
            <a:ext cx="8223250" cy="462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7551" tIns="53775" rIns="107551" bIns="53775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31520" y="5863591"/>
            <a:ext cx="5852160" cy="5554980"/>
          </a:xfrm>
          <a:prstGeom prst="rect">
            <a:avLst/>
          </a:prstGeom>
        </p:spPr>
        <p:txBody>
          <a:bodyPr vert="horz" lIns="107551" tIns="53775" rIns="107551" bIns="53775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11725039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 anchor="b"/>
          <a:lstStyle>
            <a:lvl1pPr algn="l">
              <a:defRPr sz="14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143589" y="11725039"/>
            <a:ext cx="3169919" cy="617220"/>
          </a:xfrm>
          <a:prstGeom prst="rect">
            <a:avLst/>
          </a:prstGeom>
        </p:spPr>
        <p:txBody>
          <a:bodyPr vert="horz" lIns="107551" tIns="53775" rIns="107551" bIns="53775" rtlCol="0" anchor="b"/>
          <a:lstStyle>
            <a:lvl1pPr algn="r">
              <a:defRPr sz="1400"/>
            </a:lvl1pPr>
          </a:lstStyle>
          <a:p>
            <a:fld id="{DD817DD0-38E7-46ED-A2FE-994A5C249761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7037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3556048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4999758" y="6073627"/>
            <a:ext cx="1615148" cy="2619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80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324304" y="2834820"/>
            <a:ext cx="8886496" cy="2217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400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dirty="0"/>
              <a:t>Montserrat Light</a:t>
            </a:r>
            <a:br>
              <a:rPr lang="de-DE" dirty="0"/>
            </a:br>
            <a:r>
              <a:rPr lang="de-DE" dirty="0"/>
              <a:t>Maximum 3 </a:t>
            </a:r>
            <a:r>
              <a:rPr lang="de-DE" dirty="0" err="1"/>
              <a:t>lines</a:t>
            </a:r>
            <a:br>
              <a:rPr lang="de-DE" dirty="0"/>
            </a:br>
            <a:r>
              <a:rPr lang="de-DE" dirty="0"/>
              <a:t>44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 hasCustomPrompt="1"/>
          </p:nvPr>
        </p:nvSpPr>
        <p:spPr>
          <a:xfrm>
            <a:off x="1324304" y="5484422"/>
            <a:ext cx="8886496" cy="29944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2000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  <a:lvl5pPr>
              <a:defRPr/>
            </a:lvl5pPr>
          </a:lstStyle>
          <a:p>
            <a:pPr lvl="0"/>
            <a:r>
              <a:rPr lang="de-DE" dirty="0" err="1"/>
              <a:t>Subheading</a:t>
            </a:r>
            <a:r>
              <a:rPr lang="de-DE" dirty="0"/>
              <a:t> Montserrat Light, 20 </a:t>
            </a:r>
            <a:r>
              <a:rPr lang="de-DE" dirty="0" err="1"/>
              <a:t>pt</a:t>
            </a:r>
            <a:endParaRPr lang="de-DE" dirty="0"/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48582" y="-308570"/>
            <a:ext cx="12206900" cy="7126900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AC6ABFF-D74E-F3D6-83ED-D8DD4422CB8E}"/>
              </a:ext>
            </a:extLst>
          </p:cNvPr>
          <p:cNvSpPr/>
          <p:nvPr userDrawn="1"/>
        </p:nvSpPr>
        <p:spPr>
          <a:xfrm>
            <a:off x="0" y="0"/>
            <a:ext cx="11522075" cy="1467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89520B-6B70-4571-3ABC-0CFCA3485B8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1" y="739523"/>
            <a:ext cx="11522075" cy="1467434"/>
          </a:xfrm>
          <a:prstGeom prst="rect">
            <a:avLst/>
          </a:prstGeom>
        </p:spPr>
      </p:pic>
      <p:pic>
        <p:nvPicPr>
          <p:cNvPr id="3" name="Grafik 21">
            <a:extLst>
              <a:ext uri="{FF2B5EF4-FFF2-40B4-BE49-F238E27FC236}">
                <a16:creationId xmlns:a16="http://schemas.microsoft.com/office/drawing/2014/main" id="{D4C43E31-A1C6-FAA1-FEDD-3AF502BC930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88000" y="409180"/>
            <a:ext cx="5105651" cy="9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5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Blue"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3556048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270" imgH="270" progId="TCLayout.ActiveDocument.1">
                  <p:embed/>
                </p:oleObj>
              </mc:Choice>
              <mc:Fallback>
                <p:oleObj name="think-cell Folie" r:id="rId4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feld 8"/>
          <p:cNvSpPr txBox="1"/>
          <p:nvPr userDrawn="1"/>
        </p:nvSpPr>
        <p:spPr>
          <a:xfrm>
            <a:off x="4999758" y="6073627"/>
            <a:ext cx="1615148" cy="2619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endParaRPr lang="de-DE" sz="180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2" hasCustomPrompt="1"/>
          </p:nvPr>
        </p:nvSpPr>
        <p:spPr>
          <a:xfrm>
            <a:off x="1324304" y="1175971"/>
            <a:ext cx="8937296" cy="410722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4000"/>
              </a:lnSpc>
              <a:spcBef>
                <a:spcPts val="0"/>
              </a:spcBef>
              <a:defRPr sz="4400" b="0" i="0" baseline="0">
                <a:solidFill>
                  <a:schemeClr val="bg1"/>
                </a:solidFill>
                <a:latin typeface="Montserrat Light" pitchFamily="2" charset="77"/>
                <a:ea typeface="Montserrat Light" pitchFamily="2" charset="77"/>
              </a:defRPr>
            </a:lvl1pPr>
          </a:lstStyle>
          <a:p>
            <a:pPr lvl="0"/>
            <a:r>
              <a:rPr lang="de-DE" dirty="0" err="1"/>
              <a:t>Section</a:t>
            </a:r>
            <a:r>
              <a:rPr lang="de-DE" dirty="0"/>
              <a:t> Title</a:t>
            </a:r>
          </a:p>
        </p:txBody>
      </p:sp>
      <p:grpSp>
        <p:nvGrpSpPr>
          <p:cNvPr id="147" name="Gruppieren 146"/>
          <p:cNvGrpSpPr/>
          <p:nvPr userDrawn="1"/>
        </p:nvGrpSpPr>
        <p:grpSpPr>
          <a:xfrm>
            <a:off x="-348582" y="-308570"/>
            <a:ext cx="12206900" cy="7126900"/>
            <a:chOff x="-348582" y="-308570"/>
            <a:chExt cx="12206900" cy="7126900"/>
          </a:xfrm>
        </p:grpSpPr>
        <p:grpSp>
          <p:nvGrpSpPr>
            <p:cNvPr id="148" name="Gruppieren 147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75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9" name="Gruppieren 148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68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0" name="Gruppieren 149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60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1" name="Gruppieren 150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52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5952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9747221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695EB076-E1BD-4EDF-8A49-0FFA62C17B0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776754" y="470208"/>
            <a:ext cx="3482228" cy="6704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5F8087-362F-E242-4E14-7355C0A9199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7921869" cy="168946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3D7A036-0797-32AA-A50D-1BD3998F9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373" y="413152"/>
            <a:ext cx="10944225" cy="784516"/>
          </a:xfrm>
          <a:prstGeom prst="rect">
            <a:avLst/>
          </a:prstGeom>
        </p:spPr>
        <p:txBody>
          <a:bodyPr vert="horz"/>
          <a:lstStyle>
            <a:lvl1pPr>
              <a:defRPr b="0" i="0">
                <a:solidFill>
                  <a:schemeClr val="bg1"/>
                </a:solidFill>
                <a:latin typeface="Montserrat Light" pitchFamily="2" charset="77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Slide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Title</a:t>
            </a:r>
          </a:p>
        </p:txBody>
      </p:sp>
      <p:sp>
        <p:nvSpPr>
          <p:cNvPr id="20" name="Content Placeholder 17">
            <a:extLst>
              <a:ext uri="{FF2B5EF4-FFF2-40B4-BE49-F238E27FC236}">
                <a16:creationId xmlns:a16="http://schemas.microsoft.com/office/drawing/2014/main" id="{A47CA737-AEFE-339E-5D5C-2C76D186E3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373" y="1890346"/>
            <a:ext cx="10944225" cy="4124383"/>
          </a:xfrm>
        </p:spPr>
        <p:txBody>
          <a:bodyPr/>
          <a:lstStyle>
            <a:lvl1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1pPr>
            <a:lvl2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2pPr>
            <a:lvl3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3pPr>
            <a:lvl4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4pPr>
            <a:lvl5pPr>
              <a:defRPr sz="1500" b="0" i="0">
                <a:solidFill>
                  <a:schemeClr val="tx2"/>
                </a:solidFill>
                <a:latin typeface="Montserrat Light" pitchFamily="2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291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309954010"/>
              </p:ext>
            </p:extLst>
          </p:nvPr>
        </p:nvGraphicFramePr>
        <p:xfrm>
          <a:off x="1588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7" imgW="270" imgH="270" progId="TCLayout.ActiveDocument.1">
                  <p:embed/>
                </p:oleObj>
              </mc:Choice>
              <mc:Fallback>
                <p:oleObj name="think-cell Folie" r:id="rId7" imgW="270" imgH="27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44373" y="1509913"/>
            <a:ext cx="10789702" cy="4325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First Level</a:t>
            </a:r>
          </a:p>
          <a:p>
            <a:pPr lvl="1"/>
            <a:r>
              <a:rPr lang="de-DE" dirty="0"/>
              <a:t>Second Level</a:t>
            </a:r>
          </a:p>
          <a:p>
            <a:pPr lvl="2"/>
            <a:r>
              <a:rPr lang="de-DE" dirty="0"/>
              <a:t>Third Level</a:t>
            </a:r>
          </a:p>
          <a:p>
            <a:pPr lvl="3"/>
            <a:r>
              <a:rPr lang="de-DE" dirty="0" err="1"/>
              <a:t>Fourth</a:t>
            </a:r>
            <a:r>
              <a:rPr lang="de-DE" dirty="0"/>
              <a:t> Level</a:t>
            </a:r>
          </a:p>
          <a:p>
            <a:pPr lvl="4"/>
            <a:r>
              <a:rPr lang="de-DE" dirty="0" err="1"/>
              <a:t>Fifth</a:t>
            </a:r>
            <a:r>
              <a:rPr lang="de-DE" dirty="0"/>
              <a:t> Level</a:t>
            </a:r>
          </a:p>
          <a:p>
            <a:pPr lvl="5"/>
            <a:r>
              <a:rPr lang="de-DE" dirty="0" err="1"/>
              <a:t>Sixth</a:t>
            </a:r>
            <a:r>
              <a:rPr lang="de-DE" dirty="0"/>
              <a:t> Level</a:t>
            </a:r>
          </a:p>
          <a:p>
            <a:pPr lvl="6"/>
            <a:r>
              <a:rPr lang="de-DE" dirty="0" err="1"/>
              <a:t>Seventh</a:t>
            </a:r>
            <a:r>
              <a:rPr lang="de-DE" dirty="0"/>
              <a:t> Level</a:t>
            </a:r>
          </a:p>
          <a:p>
            <a:pPr lvl="7"/>
            <a:r>
              <a:rPr lang="de-DE" dirty="0" err="1"/>
              <a:t>Eighth</a:t>
            </a:r>
            <a:r>
              <a:rPr lang="de-DE" dirty="0"/>
              <a:t> Level</a:t>
            </a:r>
          </a:p>
          <a:p>
            <a:pPr lvl="8"/>
            <a:r>
              <a:rPr lang="de-DE" dirty="0" err="1"/>
              <a:t>Ninth</a:t>
            </a:r>
            <a:r>
              <a:rPr lang="de-DE" dirty="0"/>
              <a:t> Level</a:t>
            </a:r>
          </a:p>
        </p:txBody>
      </p:sp>
      <p:sp>
        <p:nvSpPr>
          <p:cNvPr id="77" name="Textfeld 76"/>
          <p:cNvSpPr txBox="1"/>
          <p:nvPr userDrawn="1"/>
        </p:nvSpPr>
        <p:spPr>
          <a:xfrm>
            <a:off x="10412349" y="6149685"/>
            <a:ext cx="820800" cy="1764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/>
            <a:fld id="{FAAB48A4-D341-4AE9-8566-EA7878570C6A}" type="slidenum">
              <a:rPr lang="de-DE" sz="900" b="1" i="0" smtClean="0">
                <a:solidFill>
                  <a:srgbClr val="3A9BF3"/>
                </a:solidFill>
                <a:latin typeface="Montserrat" pitchFamily="2" charset="77"/>
                <a:ea typeface="Typold Book" panose="020B0004030204060B03" pitchFamily="34" charset="0"/>
              </a:rPr>
              <a:pPr algn="r"/>
              <a:t>‹#›</a:t>
            </a:fld>
            <a:endParaRPr lang="en-US" sz="900" b="1" i="0" dirty="0">
              <a:solidFill>
                <a:srgbClr val="3A9BF3"/>
              </a:solidFill>
              <a:latin typeface="Montserrat" pitchFamily="2" charset="77"/>
              <a:ea typeface="Typold Book" panose="020B0004030204060B03" pitchFamily="34" charset="0"/>
            </a:endParaRPr>
          </a:p>
        </p:txBody>
      </p:sp>
      <p:grpSp>
        <p:nvGrpSpPr>
          <p:cNvPr id="138" name="Gruppieren 137"/>
          <p:cNvGrpSpPr/>
          <p:nvPr userDrawn="1"/>
        </p:nvGrpSpPr>
        <p:grpSpPr>
          <a:xfrm>
            <a:off x="-348582" y="-308570"/>
            <a:ext cx="12206900" cy="7126900"/>
            <a:chOff x="-348582" y="-308570"/>
            <a:chExt cx="12206900" cy="7126900"/>
          </a:xfrm>
        </p:grpSpPr>
        <p:grpSp>
          <p:nvGrpSpPr>
            <p:cNvPr id="139" name="Gruppieren 138"/>
            <p:cNvGrpSpPr/>
            <p:nvPr userDrawn="1"/>
          </p:nvGrpSpPr>
          <p:grpSpPr>
            <a:xfrm>
              <a:off x="-348582" y="362069"/>
              <a:ext cx="180000" cy="5931473"/>
              <a:chOff x="-348582" y="362069"/>
              <a:chExt cx="180000" cy="5931473"/>
            </a:xfrm>
          </p:grpSpPr>
          <p:cxnSp>
            <p:nvCxnSpPr>
              <p:cNvPr id="166" name="Gerade Verbindung 6"/>
              <p:cNvCxnSpPr/>
              <p:nvPr userDrawn="1"/>
            </p:nvCxnSpPr>
            <p:spPr>
              <a:xfrm>
                <a:off x="-348582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 Verbindung 7"/>
              <p:cNvCxnSpPr/>
              <p:nvPr userDrawn="1"/>
            </p:nvCxnSpPr>
            <p:spPr>
              <a:xfrm>
                <a:off x="-348582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 Verbindung 8"/>
              <p:cNvCxnSpPr/>
              <p:nvPr userDrawn="1"/>
            </p:nvCxnSpPr>
            <p:spPr>
              <a:xfrm>
                <a:off x="-348582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 Verbindung 9"/>
              <p:cNvCxnSpPr/>
              <p:nvPr userDrawn="1"/>
            </p:nvCxnSpPr>
            <p:spPr>
              <a:xfrm>
                <a:off x="-348582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 Verbindung 10"/>
              <p:cNvCxnSpPr/>
              <p:nvPr userDrawn="1"/>
            </p:nvCxnSpPr>
            <p:spPr>
              <a:xfrm>
                <a:off x="-348582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11"/>
              <p:cNvCxnSpPr/>
              <p:nvPr userDrawn="1"/>
            </p:nvCxnSpPr>
            <p:spPr>
              <a:xfrm>
                <a:off x="-348582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 Verbindung 12"/>
              <p:cNvCxnSpPr/>
              <p:nvPr userDrawn="1"/>
            </p:nvCxnSpPr>
            <p:spPr>
              <a:xfrm>
                <a:off x="-348582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uppieren 139"/>
            <p:cNvGrpSpPr/>
            <p:nvPr userDrawn="1"/>
          </p:nvGrpSpPr>
          <p:grpSpPr>
            <a:xfrm>
              <a:off x="11678318" y="362069"/>
              <a:ext cx="180000" cy="5931473"/>
              <a:chOff x="11678318" y="362069"/>
              <a:chExt cx="180000" cy="5931473"/>
            </a:xfrm>
          </p:grpSpPr>
          <p:cxnSp>
            <p:nvCxnSpPr>
              <p:cNvPr id="159" name="Gerade Verbindung 56"/>
              <p:cNvCxnSpPr/>
              <p:nvPr userDrawn="1"/>
            </p:nvCxnSpPr>
            <p:spPr>
              <a:xfrm>
                <a:off x="11678318" y="36206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 Verbindung 57"/>
              <p:cNvCxnSpPr/>
              <p:nvPr userDrawn="1"/>
            </p:nvCxnSpPr>
            <p:spPr>
              <a:xfrm>
                <a:off x="11678318" y="511175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 Verbindung 58"/>
              <p:cNvCxnSpPr/>
              <p:nvPr userDrawn="1"/>
            </p:nvCxnSpPr>
            <p:spPr>
              <a:xfrm>
                <a:off x="11678318" y="117597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 Verbindung 59"/>
              <p:cNvCxnSpPr/>
              <p:nvPr userDrawn="1"/>
            </p:nvCxnSpPr>
            <p:spPr>
              <a:xfrm>
                <a:off x="11678318" y="1609200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 Verbindung 60"/>
              <p:cNvCxnSpPr/>
              <p:nvPr userDrawn="1"/>
            </p:nvCxnSpPr>
            <p:spPr>
              <a:xfrm>
                <a:off x="11678318" y="5835651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 Verbindung 61"/>
              <p:cNvCxnSpPr/>
              <p:nvPr userDrawn="1"/>
            </p:nvCxnSpPr>
            <p:spPr>
              <a:xfrm>
                <a:off x="11678318" y="6050859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 Verbindung 62"/>
              <p:cNvCxnSpPr/>
              <p:nvPr userDrawn="1"/>
            </p:nvCxnSpPr>
            <p:spPr>
              <a:xfrm>
                <a:off x="11678318" y="6293542"/>
                <a:ext cx="180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Gruppieren 140"/>
            <p:cNvGrpSpPr/>
            <p:nvPr userDrawn="1"/>
          </p:nvGrpSpPr>
          <p:grpSpPr>
            <a:xfrm>
              <a:off x="288925" y="6638330"/>
              <a:ext cx="10944224" cy="180000"/>
              <a:chOff x="288925" y="6638330"/>
              <a:chExt cx="10944224" cy="180000"/>
            </a:xfrm>
          </p:grpSpPr>
          <p:cxnSp>
            <p:nvCxnSpPr>
              <p:cNvPr id="151" name="Gerade Verbindung 65"/>
              <p:cNvCxnSpPr/>
              <p:nvPr userDrawn="1"/>
            </p:nvCxnSpPr>
            <p:spPr>
              <a:xfrm>
                <a:off x="28892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 Verbindung 74"/>
              <p:cNvCxnSpPr/>
              <p:nvPr userDrawn="1"/>
            </p:nvCxnSpPr>
            <p:spPr>
              <a:xfrm>
                <a:off x="2911475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 Verbindung 75"/>
              <p:cNvCxnSpPr/>
              <p:nvPr userDrawn="1"/>
            </p:nvCxnSpPr>
            <p:spPr>
              <a:xfrm>
                <a:off x="306101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 Verbindung 72"/>
              <p:cNvCxnSpPr/>
              <p:nvPr userDrawn="1"/>
            </p:nvCxnSpPr>
            <p:spPr>
              <a:xfrm>
                <a:off x="568966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73"/>
              <p:cNvCxnSpPr/>
              <p:nvPr userDrawn="1"/>
            </p:nvCxnSpPr>
            <p:spPr>
              <a:xfrm>
                <a:off x="5829683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 Verbindung 70"/>
              <p:cNvCxnSpPr/>
              <p:nvPr userDrawn="1"/>
            </p:nvCxnSpPr>
            <p:spPr>
              <a:xfrm>
                <a:off x="8459788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71"/>
              <p:cNvCxnSpPr/>
              <p:nvPr userDrawn="1"/>
            </p:nvCxnSpPr>
            <p:spPr>
              <a:xfrm>
                <a:off x="860218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69"/>
              <p:cNvCxnSpPr/>
              <p:nvPr userDrawn="1"/>
            </p:nvCxnSpPr>
            <p:spPr>
              <a:xfrm>
                <a:off x="11233149" y="663833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" name="Gruppieren 141"/>
            <p:cNvGrpSpPr/>
            <p:nvPr userDrawn="1"/>
          </p:nvGrpSpPr>
          <p:grpSpPr>
            <a:xfrm>
              <a:off x="288925" y="-308570"/>
              <a:ext cx="10944224" cy="180000"/>
              <a:chOff x="288925" y="-308570"/>
              <a:chExt cx="10944224" cy="180000"/>
            </a:xfrm>
          </p:grpSpPr>
          <p:cxnSp>
            <p:nvCxnSpPr>
              <p:cNvPr id="143" name="Gerade Verbindung 14"/>
              <p:cNvCxnSpPr/>
              <p:nvPr userDrawn="1"/>
            </p:nvCxnSpPr>
            <p:spPr>
              <a:xfrm>
                <a:off x="28892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Gerade Verbindung 23"/>
              <p:cNvCxnSpPr/>
              <p:nvPr userDrawn="1"/>
            </p:nvCxnSpPr>
            <p:spPr>
              <a:xfrm>
                <a:off x="2911475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Gerade Verbindung 24"/>
              <p:cNvCxnSpPr/>
              <p:nvPr userDrawn="1"/>
            </p:nvCxnSpPr>
            <p:spPr>
              <a:xfrm>
                <a:off x="306101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 Verbindung 21"/>
              <p:cNvCxnSpPr/>
              <p:nvPr userDrawn="1"/>
            </p:nvCxnSpPr>
            <p:spPr>
              <a:xfrm>
                <a:off x="568966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 Verbindung 22"/>
              <p:cNvCxnSpPr/>
              <p:nvPr userDrawn="1"/>
            </p:nvCxnSpPr>
            <p:spPr>
              <a:xfrm>
                <a:off x="5829683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 Verbindung 19"/>
              <p:cNvCxnSpPr/>
              <p:nvPr userDrawn="1"/>
            </p:nvCxnSpPr>
            <p:spPr>
              <a:xfrm>
                <a:off x="8459788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 Verbindung 20"/>
              <p:cNvCxnSpPr/>
              <p:nvPr userDrawn="1"/>
            </p:nvCxnSpPr>
            <p:spPr>
              <a:xfrm>
                <a:off x="860218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 Verbindung 18"/>
              <p:cNvCxnSpPr/>
              <p:nvPr userDrawn="1"/>
            </p:nvCxnSpPr>
            <p:spPr>
              <a:xfrm>
                <a:off x="11233149" y="-308570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Titelplatzhalter 1">
            <a:extLst>
              <a:ext uri="{FF2B5EF4-FFF2-40B4-BE49-F238E27FC236}">
                <a16:creationId xmlns:a16="http://schemas.microsoft.com/office/drawing/2014/main" id="{2CE2C321-820B-44F0-91B6-851AE3C277D4}"/>
              </a:ext>
            </a:extLst>
          </p:cNvPr>
          <p:cNvSpPr txBox="1">
            <a:spLocks/>
          </p:cNvSpPr>
          <p:nvPr userDrawn="1"/>
        </p:nvSpPr>
        <p:spPr>
          <a:xfrm>
            <a:off x="444373" y="413152"/>
            <a:ext cx="10944225" cy="78451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rgbClr val="004750"/>
                </a:solidFill>
                <a:latin typeface="FlexoSoft" panose="02000000000000000000" pitchFamily="2" charset="0"/>
                <a:ea typeface="Typold Book" panose="020B0004030204060B03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79288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58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baseline="0">
          <a:solidFill>
            <a:srgbClr val="004750"/>
          </a:solidFill>
          <a:latin typeface="FlexoSoft" panose="02000000000000000000" pitchFamily="2" charset="0"/>
          <a:ea typeface="Typold Book" panose="020B0004030204060B03" pitchFamily="34" charset="0"/>
          <a:cs typeface="Arial" panose="020B0604020202020204" pitchFamily="34" charset="0"/>
        </a:defRPr>
      </a:lvl1pPr>
    </p:titleStyle>
    <p:bodyStyle>
      <a:lvl1pPr marL="0" indent="0" algn="l" defTabSz="457200" rtl="0" eaLnBrk="1" latinLnBrk="0" hangingPunct="1">
        <a:lnSpc>
          <a:spcPct val="104000"/>
        </a:lnSpc>
        <a:spcBef>
          <a:spcPts val="1200"/>
        </a:spcBef>
        <a:buFont typeface="Arial" panose="020B0604020202020204" pitchFamily="34" charset="0"/>
        <a:buNone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180000" indent="-180000" algn="l" defTabSz="457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360000" indent="-180000" algn="l" defTabSz="439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561600" indent="-180000" algn="l" defTabSz="457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756000" indent="-180000" algn="l" defTabSz="4572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anose="05020102010507070707" pitchFamily="18" charset="2"/>
        <a:buChar char="¡"/>
        <a:defRPr sz="1200" kern="1200" baseline="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931863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6pPr>
      <a:lvl7pPr marL="1090613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7pPr>
      <a:lvl8pPr marL="1281113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8pPr>
      <a:lvl9pPr marL="1474788" indent="-179388" algn="l" defTabSz="914400" rtl="0" eaLnBrk="1" latinLnBrk="0" hangingPunct="1">
        <a:lnSpc>
          <a:spcPct val="104000"/>
        </a:lnSpc>
        <a:spcBef>
          <a:spcPts val="300"/>
        </a:spcBef>
        <a:buClr>
          <a:schemeClr val="tx1"/>
        </a:buClr>
        <a:buSzPct val="70000"/>
        <a:buFont typeface="Wingdings 2" pitchFamily="18" charset="2"/>
        <a:buChar char=""/>
        <a:defRPr sz="1200" kern="1200">
          <a:solidFill>
            <a:srgbClr val="00475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324303" y="2834820"/>
            <a:ext cx="10364934" cy="2217600"/>
          </a:xfrm>
        </p:spPr>
        <p:txBody>
          <a:bodyPr/>
          <a:lstStyle/>
          <a:p>
            <a:r>
              <a:rPr lang="en-US" b="1" noProof="1"/>
              <a:t>Release Process Update</a:t>
            </a:r>
            <a:br>
              <a:rPr lang="en-US" b="1" noProof="1"/>
            </a:br>
            <a:r>
              <a:rPr lang="en-US" sz="2400" b="1" noProof="1"/>
              <a:t>Using the Automated Release Process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324304" y="5484422"/>
            <a:ext cx="8886496" cy="303416"/>
          </a:xfrm>
        </p:spPr>
        <p:txBody>
          <a:bodyPr/>
          <a:lstStyle/>
          <a:p>
            <a:r>
              <a:rPr lang="en-US" noProof="1"/>
              <a:t>Release Management Working Group, March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411" y="235626"/>
            <a:ext cx="10944225" cy="784516"/>
          </a:xfrm>
        </p:spPr>
        <p:txBody>
          <a:bodyPr/>
          <a:lstStyle/>
          <a:p>
            <a:r>
              <a:rPr lang="en-US" noProof="1">
                <a:latin typeface="Montserrat ExtraBold" panose="00000900000000000000" pitchFamily="2" charset="0"/>
              </a:rPr>
              <a:t>release-plan.yaml</a:t>
            </a:r>
            <a:r>
              <a:rPr lang="en-US" noProof="1"/>
              <a:t> </a:t>
            </a:r>
            <a:br>
              <a:rPr lang="en-US" noProof="1"/>
            </a:br>
            <a:r>
              <a:rPr lang="en-US" noProof="1"/>
              <a:t>the baseline for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971" y="1729199"/>
            <a:ext cx="4041491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noProof="1">
                <a:latin typeface="Montserrat" pitchFamily="2" charset="77"/>
              </a:rPr>
              <a:t>release-plan.yaml (the intent)</a:t>
            </a:r>
          </a:p>
          <a:p>
            <a:r>
              <a:rPr lang="en-US" sz="1600" noProof="1">
                <a:latin typeface="Montserrat" pitchFamily="2" charset="77"/>
              </a:rPr>
              <a:t>Where: On main branch.</a:t>
            </a:r>
          </a:p>
          <a:p>
            <a:r>
              <a:rPr lang="en-US" sz="1600" noProof="1">
                <a:latin typeface="Montserrat" pitchFamily="2" charset="77"/>
              </a:rPr>
              <a:t>Who Edits: Codeowners.</a:t>
            </a:r>
          </a:p>
          <a:p>
            <a:r>
              <a:rPr lang="en-US" sz="1600" noProof="1">
                <a:latin typeface="Montserrat" pitchFamily="2" charset="77"/>
              </a:rPr>
              <a:t>Purpose: tells automation what to do</a:t>
            </a:r>
          </a:p>
        </p:txBody>
      </p:sp>
      <p:pic>
        <p:nvPicPr>
          <p:cNvPr id="6" name="Picture 5" descr="release_metadata_record_1765208743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880" y="1736096"/>
            <a:ext cx="979891" cy="9798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9198" y="1681674"/>
            <a:ext cx="399660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noProof="1">
                <a:latin typeface="Montserrat" pitchFamily="2" charset="77"/>
              </a:rPr>
              <a:t>release-metadata.yaml (the record)</a:t>
            </a:r>
          </a:p>
          <a:p>
            <a:r>
              <a:rPr lang="en-US" sz="1600" noProof="1">
                <a:latin typeface="Montserrat" pitchFamily="2" charset="77"/>
              </a:rPr>
              <a:t>Where: On release tags.</a:t>
            </a:r>
          </a:p>
          <a:p>
            <a:r>
              <a:rPr lang="en-US" sz="1600" noProof="1">
                <a:latin typeface="Montserrat" pitchFamily="2" charset="77"/>
              </a:rPr>
              <a:t>Who Edits: Automation.</a:t>
            </a:r>
          </a:p>
          <a:p>
            <a:r>
              <a:rPr lang="en-US" sz="1600" noProof="1">
                <a:latin typeface="Montserrat" pitchFamily="2" charset="77"/>
              </a:rPr>
              <a:t>Purpose: historical record of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1496" y="2940327"/>
            <a:ext cx="56796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repository: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repository_name: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ExampleRepository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release_tag: r3.2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release_date: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"2026-09-30T10:00:00Z"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release_type: pre-release-rc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src_commit_sha: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7f3a9b2c8e1d4f6a0b5c7e9d3f8a1c4e6b9d2f5a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release_notes: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"Public release of ..."</a:t>
            </a:r>
          </a:p>
          <a:p>
            <a:pPr>
              <a:defRPr sz="1000">
                <a:latin typeface="Courier New"/>
              </a:defRPr>
            </a:pPr>
            <a:endParaRPr lang="en-US" sz="12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dependencies: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commonalities_release: r3.4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(0.6.1)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identity_consent_management_release: r3.3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(0.4.0)</a:t>
            </a:r>
          </a:p>
          <a:p>
            <a:pPr>
              <a:defRPr sz="1000">
                <a:latin typeface="Courier New"/>
              </a:defRPr>
            </a:pPr>
            <a:endParaRPr lang="en-US" sz="12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apis: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- api_name: my-example-api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api_version: 1.0.0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-rc.2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api_title: </a:t>
            </a:r>
            <a:r>
              <a:rPr lang="en-US" sz="1200" b="1" noProof="1">
                <a:solidFill>
                  <a:srgbClr val="00B050"/>
                </a:solidFill>
                <a:latin typeface="Courier New"/>
              </a:rPr>
              <a:t>"Quality On Demand"</a:t>
            </a:r>
          </a:p>
        </p:txBody>
      </p:sp>
      <p:pic>
        <p:nvPicPr>
          <p:cNvPr id="10" name="Picture 9" descr="A blue and white notepad with a dart and a target&#10;&#10;AI-generated content may be incorrect.">
            <a:extLst>
              <a:ext uri="{FF2B5EF4-FFF2-40B4-BE49-F238E27FC236}">
                <a16:creationId xmlns:a16="http://schemas.microsoft.com/office/drawing/2014/main" id="{8D4B563D-5649-AAAD-217F-087B84455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329" y="1720104"/>
            <a:ext cx="1237642" cy="12376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708E49-4069-681F-A5EC-0F5DFB34BC9C}"/>
              </a:ext>
            </a:extLst>
          </p:cNvPr>
          <p:cNvSpPr txBox="1"/>
          <p:nvPr/>
        </p:nvSpPr>
        <p:spPr>
          <a:xfrm>
            <a:off x="376410" y="2940714"/>
            <a:ext cx="51099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repository: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release_track: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meta-release </a:t>
            </a:r>
            <a:r>
              <a:rPr lang="en-US" sz="1200" noProof="1">
                <a:latin typeface="Courier New"/>
              </a:rPr>
              <a:t>(or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 independent</a:t>
            </a:r>
            <a:r>
              <a:rPr lang="en-US" sz="1200" noProof="1">
                <a:latin typeface="Courier New"/>
              </a:rPr>
              <a:t>)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meta_release: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Sync26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release_tag: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r3.2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target_release_type: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pre-release-rc </a:t>
            </a:r>
            <a:r>
              <a:rPr lang="en-US" sz="1200" noProof="1">
                <a:latin typeface="Courier New"/>
              </a:rPr>
              <a:t>(or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 none, …</a:t>
            </a:r>
            <a:r>
              <a:rPr lang="en-US" sz="1200" noProof="1">
                <a:latin typeface="Courier New"/>
              </a:rPr>
              <a:t>)</a:t>
            </a:r>
          </a:p>
          <a:p>
            <a:pPr>
              <a:defRPr sz="1000">
                <a:latin typeface="Courier New"/>
              </a:defRPr>
            </a:pPr>
            <a:endParaRPr lang="en-US" sz="1200" b="1" noProof="1">
              <a:solidFill>
                <a:schemeClr val="accent2">
                  <a:lumMod val="75000"/>
                </a:schemeClr>
              </a:solidFill>
              <a:latin typeface="Courier New"/>
            </a:endParaRPr>
          </a:p>
          <a:p>
            <a:pPr>
              <a:defRPr sz="1000">
                <a:latin typeface="Courier New"/>
              </a:defRPr>
            </a:pPr>
            <a:endParaRPr lang="en-US" sz="12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dependencies: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commonalities_release: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r3.4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identity_consent_management_release: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r3.3</a:t>
            </a:r>
          </a:p>
          <a:p>
            <a:pPr>
              <a:defRPr sz="1000">
                <a:latin typeface="Courier New"/>
              </a:defRPr>
            </a:pPr>
            <a:endParaRPr lang="en-US" sz="1200" noProof="1">
              <a:latin typeface="Courier New"/>
            </a:endParaRP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apis: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- api_name: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my-example-api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target_api_version: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1.0.0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target_api_status: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rc </a:t>
            </a:r>
            <a:r>
              <a:rPr lang="en-US" sz="1200" noProof="1">
                <a:latin typeface="Courier New"/>
              </a:rPr>
              <a:t>(or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 draft, alpha, public</a:t>
            </a:r>
            <a:r>
              <a:rPr lang="en-US" sz="1200" noProof="1">
                <a:latin typeface="Courier New"/>
              </a:rPr>
              <a:t>)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main_contacts: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  -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@contact1</a:t>
            </a:r>
          </a:p>
          <a:p>
            <a:pPr>
              <a:defRPr sz="1000">
                <a:latin typeface="Courier New"/>
              </a:defRPr>
            </a:pPr>
            <a:r>
              <a:rPr lang="en-US" sz="1200" noProof="1">
                <a:latin typeface="Courier New"/>
              </a:rPr>
              <a:t>      - </a:t>
            </a:r>
            <a:r>
              <a:rPr lang="en-US" sz="1200" b="1" noProof="1">
                <a:solidFill>
                  <a:schemeClr val="accent2">
                    <a:lumMod val="75000"/>
                  </a:schemeClr>
                </a:solidFill>
                <a:latin typeface="Courier New"/>
              </a:rPr>
              <a:t>@contact2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7724A6-0DA7-B645-CD19-1419E6AAAF20}"/>
              </a:ext>
            </a:extLst>
          </p:cNvPr>
          <p:cNvSpPr txBox="1"/>
          <p:nvPr/>
        </p:nvSpPr>
        <p:spPr>
          <a:xfrm>
            <a:off x="152294" y="1069928"/>
            <a:ext cx="4564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https://github.com/camaraproject/ReleaseManagement/tree/main/documentation/metadata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4672862-5082-1F39-2F30-198D9DCA0D7C}"/>
              </a:ext>
            </a:extLst>
          </p:cNvPr>
          <p:cNvSpPr/>
          <p:nvPr/>
        </p:nvSpPr>
        <p:spPr>
          <a:xfrm rot="16200000">
            <a:off x="5076968" y="1872828"/>
            <a:ext cx="1049481" cy="493629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90DC-5F22-C95C-B53A-9CF5DD94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73" y="288460"/>
            <a:ext cx="10944225" cy="784516"/>
          </a:xfrm>
        </p:spPr>
        <p:txBody>
          <a:bodyPr/>
          <a:lstStyle/>
          <a:p>
            <a:r>
              <a:rPr lang="fr-FR" dirty="0">
                <a:latin typeface="Montserrat ExtraBold" panose="00000900000000000000" pitchFamily="2" charset="0"/>
              </a:rPr>
              <a:t>Release Issue</a:t>
            </a:r>
            <a:br>
              <a:rPr lang="fr-FR" dirty="0">
                <a:latin typeface="Montserrat ExtraBold" panose="00000900000000000000" pitchFamily="2" charset="0"/>
              </a:rPr>
            </a:br>
            <a:r>
              <a:rPr lang="fr-FR" dirty="0" err="1"/>
              <a:t>steering</a:t>
            </a:r>
            <a:r>
              <a:rPr lang="fr-FR" dirty="0"/>
              <a:t> the release process</a:t>
            </a:r>
            <a:endParaRPr lang="en-US" dirty="0"/>
          </a:p>
        </p:txBody>
      </p:sp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267B9F34-7064-32DD-58C5-5A29B4484363}"/>
              </a:ext>
            </a:extLst>
          </p:cNvPr>
          <p:cNvSpPr/>
          <p:nvPr/>
        </p:nvSpPr>
        <p:spPr>
          <a:xfrm>
            <a:off x="391371" y="2644539"/>
            <a:ext cx="7845018" cy="3371270"/>
          </a:xfrm>
          <a:prstGeom prst="horizontalScroll">
            <a:avLst>
              <a:gd name="adj" fmla="val 5653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000" u="sng" dirty="0"/>
              <a:t>   </a:t>
            </a:r>
          </a:p>
          <a:p>
            <a:r>
              <a:rPr lang="fr-FR" sz="2000" b="1" dirty="0"/>
              <a:t>   </a:t>
            </a:r>
            <a:r>
              <a:rPr lang="fr-FR" sz="2000" b="1" u="sng" dirty="0"/>
              <a:t>Release</a:t>
            </a:r>
            <a:r>
              <a:rPr lang="fr-FR" sz="2000" u="sng" dirty="0"/>
              <a:t> </a:t>
            </a:r>
            <a:r>
              <a:rPr lang="fr-FR" sz="2000" b="1" u="sng" dirty="0"/>
              <a:t>Issue #xxx</a:t>
            </a:r>
            <a:endParaRPr lang="fr-FR" sz="20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2000" dirty="0" err="1"/>
              <a:t>Readiness</a:t>
            </a:r>
            <a:r>
              <a:rPr lang="fr-FR" sz="2000" dirty="0"/>
              <a:t> checklist: </a:t>
            </a:r>
            <a:r>
              <a:rPr lang="fr-FR" sz="2000" dirty="0">
                <a:sym typeface="Wingdings" panose="05000000000000000000" pitchFamily="2" charset="2"/>
              </a:rPr>
              <a:t> </a:t>
            </a:r>
            <a:endParaRPr lang="en-US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/>
              <a:t>/create-snapshot </a:t>
            </a:r>
            <a:r>
              <a:rPr lang="en-US" sz="2000" dirty="0">
                <a:sym typeface="Wingdings" panose="05000000000000000000" pitchFamily="2" charset="2"/>
              </a:rPr>
              <a:t> creates snapshot branch &amp; Release PR</a:t>
            </a:r>
            <a:endParaRPr lang="en-US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Release PR: review, update as needed, get approvals &amp; merge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/>
              <a:t>/publish-release </a:t>
            </a:r>
            <a:r>
              <a:rPr lang="en-US" sz="2000" dirty="0">
                <a:sym typeface="Wingdings" panose="05000000000000000000" pitchFamily="2" charset="2"/>
              </a:rPr>
              <a:t> creates GitHub release with planned tag</a:t>
            </a:r>
            <a:endParaRPr lang="fr-F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5BC52-E567-CC5E-9C27-BB1EA8B5D118}"/>
              </a:ext>
            </a:extLst>
          </p:cNvPr>
          <p:cNvSpPr txBox="1"/>
          <p:nvPr/>
        </p:nvSpPr>
        <p:spPr>
          <a:xfrm>
            <a:off x="235753" y="1774804"/>
            <a:ext cx="1092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err="1"/>
              <a:t>Declare</a:t>
            </a:r>
            <a:r>
              <a:rPr lang="fr-FR" sz="2000" b="1" dirty="0"/>
              <a:t> release </a:t>
            </a:r>
            <a:r>
              <a:rPr lang="fr-FR" sz="2000" b="1" dirty="0" err="1"/>
              <a:t>intent</a:t>
            </a:r>
            <a:r>
              <a:rPr lang="fr-FR" sz="2000" b="1" dirty="0"/>
              <a:t> in release-</a:t>
            </a:r>
            <a:r>
              <a:rPr lang="fr-FR" sz="2000" b="1" dirty="0" err="1"/>
              <a:t>plan.yaml</a:t>
            </a:r>
            <a:r>
              <a:rPr lang="fr-FR" sz="2000" b="1" dirty="0"/>
              <a:t> </a:t>
            </a:r>
            <a:r>
              <a:rPr lang="fr-FR" sz="2000" dirty="0"/>
              <a:t>(</a:t>
            </a:r>
            <a:r>
              <a:rPr lang="fr-FR" sz="2000" dirty="0">
                <a:sym typeface="Wingdings" panose="05000000000000000000" pitchFamily="2" charset="2"/>
              </a:rPr>
              <a:t> triggers Release Issue </a:t>
            </a:r>
            <a:r>
              <a:rPr lang="fr-FR" sz="2000" dirty="0" err="1">
                <a:sym typeface="Wingdings" panose="05000000000000000000" pitchFamily="2" charset="2"/>
              </a:rPr>
              <a:t>creation</a:t>
            </a:r>
            <a:r>
              <a:rPr lang="fr-FR" sz="2000" dirty="0">
                <a:sym typeface="Wingdings" panose="05000000000000000000" pitchFamily="2" charset="2"/>
              </a:rPr>
              <a:t> or update)</a:t>
            </a:r>
            <a:endParaRPr lang="en-US" sz="2000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99D66595-6C7D-7263-A9A4-E1DCEBED6444}"/>
              </a:ext>
            </a:extLst>
          </p:cNvPr>
          <p:cNvSpPr/>
          <p:nvPr/>
        </p:nvSpPr>
        <p:spPr>
          <a:xfrm>
            <a:off x="3665360" y="2283145"/>
            <a:ext cx="1049481" cy="493629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D34F6FA-BE13-2084-693A-05247D2AC149}"/>
              </a:ext>
            </a:extLst>
          </p:cNvPr>
          <p:cNvSpPr/>
          <p:nvPr/>
        </p:nvSpPr>
        <p:spPr>
          <a:xfrm>
            <a:off x="4888370" y="3042721"/>
            <a:ext cx="2476870" cy="399495"/>
          </a:xfrm>
          <a:prstGeom prst="roundRect">
            <a:avLst>
              <a:gd name="adj" fmla="val 50000"/>
            </a:avLst>
          </a:prstGeom>
          <a:solidFill>
            <a:srgbClr val="D0D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SNAPSHOT ACTIVE</a:t>
            </a:r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0FE2F00C-53BB-9D72-1B6A-0E12602F119E}"/>
              </a:ext>
            </a:extLst>
          </p:cNvPr>
          <p:cNvSpPr/>
          <p:nvPr/>
        </p:nvSpPr>
        <p:spPr>
          <a:xfrm>
            <a:off x="8306816" y="2825208"/>
            <a:ext cx="2858737" cy="3371270"/>
          </a:xfrm>
          <a:prstGeom prst="horizontalScroll">
            <a:avLst>
              <a:gd name="adj" fmla="val 5653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400" dirty="0"/>
              <a:t>Release asset checklist: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þ"/>
            </a:pPr>
            <a:r>
              <a:rPr lang="en-US" sz="1400" dirty="0">
                <a:sym typeface="Wingdings" panose="05000000000000000000" pitchFamily="2" charset="2"/>
              </a:rPr>
              <a:t>Release Plan</a:t>
            </a:r>
            <a:endParaRPr lang="fr-FR" sz="1400" dirty="0">
              <a:sym typeface="Wingdings" panose="05000000000000000000" pitchFamily="2" charset="2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þ"/>
            </a:pPr>
            <a:r>
              <a:rPr lang="fr-FR" sz="1400" dirty="0">
                <a:sym typeface="Wingdings" panose="05000000000000000000" pitchFamily="2" charset="2"/>
              </a:rPr>
              <a:t>Scope Issue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þ"/>
            </a:pPr>
            <a:r>
              <a:rPr lang="en-US" sz="1400" dirty="0">
                <a:sym typeface="Wingdings" panose="05000000000000000000" pitchFamily="2" charset="2"/>
              </a:rPr>
              <a:t>API Definition(s)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þ"/>
            </a:pPr>
            <a:r>
              <a:rPr lang="en-US" sz="1400" dirty="0">
                <a:sym typeface="Wingdings" panose="05000000000000000000" pitchFamily="2" charset="2"/>
              </a:rPr>
              <a:t>Commonalities compliance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þ"/>
            </a:pPr>
            <a:r>
              <a:rPr lang="en-US" sz="1400" dirty="0">
                <a:sym typeface="Wingdings" panose="05000000000000000000" pitchFamily="2" charset="2"/>
              </a:rPr>
              <a:t>API Documentation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þ"/>
            </a:pPr>
            <a:r>
              <a:rPr lang="en-US" sz="1400" dirty="0">
                <a:sym typeface="Wingdings" panose="05000000000000000000" pitchFamily="2" charset="2"/>
              </a:rPr>
              <a:t>User Stories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þ"/>
            </a:pPr>
            <a:r>
              <a:rPr lang="en-US" sz="1400" dirty="0">
                <a:sym typeface="Wingdings" panose="05000000000000000000" pitchFamily="2" charset="2"/>
              </a:rPr>
              <a:t>Test Cases (basic)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þ"/>
            </a:pPr>
            <a:r>
              <a:rPr lang="en-US" sz="1400" dirty="0">
                <a:sym typeface="Wingdings" panose="05000000000000000000" pitchFamily="2" charset="2"/>
              </a:rPr>
              <a:t>Test Cases (enhanced)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þ"/>
            </a:pPr>
            <a:r>
              <a:rPr lang="en-US" sz="1400" dirty="0">
                <a:sym typeface="Wingdings" panose="05000000000000000000" pitchFamily="2" charset="2"/>
              </a:rPr>
              <a:t>API Description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þ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485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373" y="238977"/>
            <a:ext cx="10944225" cy="784516"/>
          </a:xfrm>
        </p:spPr>
        <p:txBody>
          <a:bodyPr/>
          <a:lstStyle/>
          <a:p>
            <a:r>
              <a:rPr lang="en-US" noProof="1">
                <a:latin typeface="Montserrat Black" panose="020F0502020204030204" pitchFamily="2" charset="0"/>
              </a:rPr>
              <a:t>Release Process </a:t>
            </a:r>
            <a:r>
              <a:rPr lang="en-US" noProof="1"/>
              <a:t>in a Nutshell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731024"/>
              </p:ext>
            </p:extLst>
          </p:nvPr>
        </p:nvGraphicFramePr>
        <p:xfrm>
          <a:off x="95795" y="1386656"/>
          <a:ext cx="11225349" cy="449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0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0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4417">
                  <a:extLst>
                    <a:ext uri="{9D8B030D-6E8A-4147-A177-3AD203B41FA5}">
                      <a16:colId xmlns:a16="http://schemas.microsoft.com/office/drawing/2014/main" val="1851825173"/>
                    </a:ext>
                  </a:extLst>
                </a:gridCol>
              </a:tblGrid>
              <a:tr h="798651">
                <a:tc>
                  <a:txBody>
                    <a:bodyPr/>
                    <a:lstStyle/>
                    <a:p>
                      <a:endParaRPr lang="en-US" sz="1600" noProof="1">
                        <a:latin typeface="Montserrat" pitchFamily="2" charset="77"/>
                      </a:endParaRPr>
                    </a:p>
                    <a:p>
                      <a:r>
                        <a:rPr lang="en-US" sz="1600" noProof="1">
                          <a:latin typeface="Montserrat" pitchFamily="2" charset="77"/>
                        </a:rPr>
                        <a:t>PROCESS</a:t>
                      </a:r>
                    </a:p>
                    <a:p>
                      <a:endParaRPr lang="en-US" sz="1600" noProof="1">
                        <a:latin typeface="Montserrat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noProof="1">
                          <a:latin typeface="Montserrat" pitchFamily="2" charset="77"/>
                        </a:rPr>
                        <a:t>AFTER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376">
                <a:tc gridSpan="3">
                  <a:txBody>
                    <a:bodyPr/>
                    <a:lstStyle/>
                    <a:p>
                      <a:r>
                        <a:rPr lang="fr-FR" sz="1600" b="1" noProof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Development (on main with wip)</a:t>
                      </a:r>
                      <a:endParaRPr lang="en-US" sz="1600" b="1" noProof="1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noProof="1">
                        <a:latin typeface="Montserrat" pitchFamily="2" charset="77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359184"/>
                  </a:ext>
                </a:extLst>
              </a:tr>
              <a:tr h="586957"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API Release Tracking of intent &amp;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Manual Wiki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release-plan.yaml in repository (on main)</a:t>
                      </a:r>
                    </a:p>
                    <a:p>
                      <a:r>
                        <a:rPr lang="en-US" sz="1400" noProof="1">
                          <a:latin typeface="Montserrat" pitchFamily="2" charset="77"/>
                        </a:rPr>
                        <a:t>+ Release Issue (with release progress status)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950"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PR 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Time consuming manual checks at release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Automated validation of each PR, and of planning and readiness assets (*)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598396"/>
                  </a:ext>
                </a:extLst>
              </a:tr>
              <a:tr h="334729">
                <a:tc>
                  <a:txBody>
                    <a:bodyPr/>
                    <a:lstStyle/>
                    <a:p>
                      <a:r>
                        <a:rPr lang="fr-FR" sz="1400" noProof="1">
                          <a:latin typeface="Montserrat" pitchFamily="2" charset="77"/>
                        </a:rPr>
                        <a:t>API Readiness checklist</a:t>
                      </a:r>
                      <a:endParaRPr lang="en-US" sz="1400" noProof="1"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noProof="1">
                          <a:latin typeface="Montserrat" pitchFamily="2" charset="77"/>
                        </a:rPr>
                        <a:t>Manual update in .md file</a:t>
                      </a:r>
                      <a:endParaRPr lang="en-US" sz="1400" noProof="1">
                        <a:latin typeface="Montserrat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noProof="1">
                          <a:latin typeface="Montserrat" pitchFamily="2" charset="77"/>
                        </a:rPr>
                        <a:t>Tick off asset availability in Release Issue &amp; Review PR</a:t>
                      </a:r>
                      <a:endParaRPr lang="en-US" sz="1400" noProof="1">
                        <a:latin typeface="Montserrat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13308"/>
                  </a:ext>
                </a:extLst>
              </a:tr>
              <a:tr h="325376">
                <a:tc gridSpan="3">
                  <a:txBody>
                    <a:bodyPr/>
                    <a:lstStyle/>
                    <a:p>
                      <a:r>
                        <a:rPr lang="fr-FR" sz="1600" b="1" noProof="1">
                          <a:solidFill>
                            <a:schemeClr val="bg1"/>
                          </a:solidFill>
                          <a:latin typeface="Montserrat" pitchFamily="2" charset="77"/>
                        </a:rPr>
                        <a:t>Release (Release Issue + snapshot branch + release review branch + Release PR)</a:t>
                      </a:r>
                      <a:endParaRPr lang="en-US" sz="1600" b="1" noProof="1">
                        <a:solidFill>
                          <a:schemeClr val="bg1"/>
                        </a:solidFill>
                        <a:latin typeface="Montserrat" pitchFamily="2" charset="77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600" noProof="1">
                        <a:latin typeface="Montserrat" pitchFamily="2" charset="77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846831"/>
                  </a:ext>
                </a:extLst>
              </a:tr>
              <a:tr h="502854"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Versioning in yaml, feature files and README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Manually decided &amp; 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Calculated and automatically committed from release-plan.yaml + release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879"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CHANGELOG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Manually written release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Automatically gathered input for the release – manual editing still needed but focused on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950"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Branches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Ad-hoc or strict GitFlow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1">
                          <a:latin typeface="Montserrat" pitchFamily="2" charset="77"/>
                        </a:rPr>
                        <a:t>Automated snapshot, release review and release/rX.Y branches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0821230-EF79-D5D4-53A0-F8ED7445DAAD}"/>
              </a:ext>
            </a:extLst>
          </p:cNvPr>
          <p:cNvSpPr txBox="1"/>
          <p:nvPr/>
        </p:nvSpPr>
        <p:spPr>
          <a:xfrm>
            <a:off x="444374" y="751085"/>
            <a:ext cx="6054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Montserrat" pitchFamily="2" charset="77"/>
              </a:rPr>
              <a:t>https://github.com/camaraproject/ReleaseManagement/blob/main/documentation/release-process/lifecycle.md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261930-C0C7-F5CB-51BE-9BDDCE71D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11" t="26296" r="22389" b="13916"/>
          <a:stretch>
            <a:fillRect/>
          </a:stretch>
        </p:blipFill>
        <p:spPr>
          <a:xfrm>
            <a:off x="7109358" y="1556356"/>
            <a:ext cx="526736" cy="46904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16BCD0-2792-F3B9-4EB7-252B5D68B3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104" t="18676" r="22900" b="20106"/>
          <a:stretch>
            <a:fillRect/>
          </a:stretch>
        </p:blipFill>
        <p:spPr>
          <a:xfrm>
            <a:off x="4348132" y="1550745"/>
            <a:ext cx="526736" cy="480266"/>
          </a:xfrm>
          <a:prstGeom prst="ellipse">
            <a:avLst/>
          </a:prstGeom>
        </p:spPr>
      </p:pic>
      <p:pic>
        <p:nvPicPr>
          <p:cNvPr id="11" name="Graphic 10" descr="Circles with arrows with solid fill">
            <a:extLst>
              <a:ext uri="{FF2B5EF4-FFF2-40B4-BE49-F238E27FC236}">
                <a16:creationId xmlns:a16="http://schemas.microsoft.com/office/drawing/2014/main" id="{09B55519-7ABB-B711-3BA1-3FCBA15F15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8387" y="1333678"/>
            <a:ext cx="1006535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87BC16-8EE1-5031-CA42-6E47A5E3D4CA}"/>
              </a:ext>
            </a:extLst>
          </p:cNvPr>
          <p:cNvSpPr txBox="1"/>
          <p:nvPr/>
        </p:nvSpPr>
        <p:spPr>
          <a:xfrm>
            <a:off x="5383879" y="6008254"/>
            <a:ext cx="5627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dk1"/>
                </a:solidFill>
                <a:latin typeface="Montserrat" pitchFamily="2" charset="77"/>
              </a:rPr>
              <a:t>(*) Validation will be extended over time, currently basic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E0ECA-7ABF-418D-1E32-EE8D5E58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373" y="218282"/>
            <a:ext cx="10944225" cy="784516"/>
          </a:xfrm>
        </p:spPr>
        <p:txBody>
          <a:bodyPr/>
          <a:lstStyle/>
          <a:p>
            <a:r>
              <a:rPr lang="fr-FR" dirty="0">
                <a:latin typeface="Montserrat ExtraBold" panose="00000900000000000000" pitchFamily="2" charset="0"/>
              </a:rPr>
              <a:t>Release automation </a:t>
            </a:r>
            <a:r>
              <a:rPr lang="fr-FR" dirty="0" err="1">
                <a:latin typeface="Montserrat ExtraBold" panose="00000900000000000000" pitchFamily="2" charset="0"/>
              </a:rPr>
              <a:t>commands</a:t>
            </a:r>
            <a:br>
              <a:rPr lang="fr-FR" dirty="0"/>
            </a:br>
            <a:r>
              <a:rPr lang="fr-FR" dirty="0"/>
              <a:t>Quick guide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5D229B-EED4-A918-3A62-C190A5092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183777"/>
              </p:ext>
            </p:extLst>
          </p:nvPr>
        </p:nvGraphicFramePr>
        <p:xfrm>
          <a:off x="444501" y="1259864"/>
          <a:ext cx="10790236" cy="4663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1662">
                  <a:extLst>
                    <a:ext uri="{9D8B030D-6E8A-4147-A177-3AD203B41FA5}">
                      <a16:colId xmlns:a16="http://schemas.microsoft.com/office/drawing/2014/main" val="2598203789"/>
                    </a:ext>
                  </a:extLst>
                </a:gridCol>
                <a:gridCol w="3373873">
                  <a:extLst>
                    <a:ext uri="{9D8B030D-6E8A-4147-A177-3AD203B41FA5}">
                      <a16:colId xmlns:a16="http://schemas.microsoft.com/office/drawing/2014/main" val="1539168075"/>
                    </a:ext>
                  </a:extLst>
                </a:gridCol>
                <a:gridCol w="2456873">
                  <a:extLst>
                    <a:ext uri="{9D8B030D-6E8A-4147-A177-3AD203B41FA5}">
                      <a16:colId xmlns:a16="http://schemas.microsoft.com/office/drawing/2014/main" val="342748045"/>
                    </a:ext>
                  </a:extLst>
                </a:gridCol>
                <a:gridCol w="2367828">
                  <a:extLst>
                    <a:ext uri="{9D8B030D-6E8A-4147-A177-3AD203B41FA5}">
                      <a16:colId xmlns:a16="http://schemas.microsoft.com/office/drawing/2014/main" val="333015647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Release Issue Command</a:t>
                      </a:r>
                    </a:p>
                  </a:txBody>
                  <a:tcPr marL="99060" marR="990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Meaning</a:t>
                      </a:r>
                    </a:p>
                  </a:txBody>
                  <a:tcPr marL="99060" marR="990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</a:rPr>
                        <a:t>Allowed in State</a:t>
                      </a:r>
                    </a:p>
                  </a:txBody>
                  <a:tcPr marL="99060" marR="990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effectLst/>
                        </a:rPr>
                        <a:t>Resulting State</a:t>
                      </a:r>
                    </a:p>
                  </a:txBody>
                  <a:tcPr marL="99060" marR="9906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4186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/create-snapshot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Validate current HEAD, create snapshot branch +</a:t>
                      </a:r>
                    </a:p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release-review branch +</a:t>
                      </a:r>
                      <a:r>
                        <a:rPr lang="en-US" sz="1800" dirty="0">
                          <a:effectLst/>
                        </a:rPr>
                        <a:t> Release PR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PLANNED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SNAPSHOT ACTIVE (on success)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403655548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/discard-snapshot &lt;reason&gt;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Discard the active snapshot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SNAPSHOT ACTIVE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PLANNED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523973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>
                          <a:effectLst/>
                        </a:rPr>
                        <a:t>(Release PR </a:t>
                      </a:r>
                      <a:r>
                        <a:rPr lang="fr-FR" sz="1800" dirty="0" err="1">
                          <a:effectLst/>
                        </a:rPr>
                        <a:t>merged</a:t>
                      </a:r>
                      <a:r>
                        <a:rPr lang="fr-FR" sz="1800" dirty="0">
                          <a:effectLst/>
                        </a:rPr>
                        <a:t>)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>
                          <a:effectLst/>
                        </a:rPr>
                        <a:t>Release </a:t>
                      </a:r>
                      <a:r>
                        <a:rPr lang="fr-FR" sz="1800" dirty="0" err="1">
                          <a:effectLst/>
                        </a:rPr>
                        <a:t>is</a:t>
                      </a:r>
                      <a:r>
                        <a:rPr lang="fr-FR" sz="1800" dirty="0">
                          <a:effectLst/>
                        </a:rPr>
                        <a:t> </a:t>
                      </a:r>
                      <a:r>
                        <a:rPr lang="fr-FR" sz="1800" dirty="0" err="1">
                          <a:effectLst/>
                        </a:rPr>
                        <a:t>approved</a:t>
                      </a:r>
                      <a:r>
                        <a:rPr lang="fr-FR" sz="1800" dirty="0">
                          <a:effectLst/>
                        </a:rPr>
                        <a:t> and GitHub draft release </a:t>
                      </a:r>
                      <a:r>
                        <a:rPr lang="fr-FR" sz="1800" dirty="0" err="1">
                          <a:effectLst/>
                        </a:rPr>
                        <a:t>is</a:t>
                      </a:r>
                      <a:r>
                        <a:rPr lang="fr-FR" sz="1800" dirty="0">
                          <a:effectLst/>
                        </a:rPr>
                        <a:t> </a:t>
                      </a:r>
                      <a:r>
                        <a:rPr lang="fr-FR" sz="1800" dirty="0" err="1">
                          <a:effectLst/>
                        </a:rPr>
                        <a:t>created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SNAPSHOT ACTIVE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>
                          <a:effectLst/>
                        </a:rPr>
                        <a:t>DRAFT READY</a:t>
                      </a:r>
                      <a:endParaRPr lang="en-US" sz="1800" dirty="0">
                        <a:effectLst/>
                      </a:endParaRP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78382663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/delete-draft &lt;reason&gt;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Delete GitHub draft release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DRAFT READY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PLANNED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17275885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/publish-release --confirm &lt;tag&gt;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Publish GitHub draft release +</a:t>
                      </a:r>
                    </a:p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create reference tag + merge-to-main PR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DRAFT READY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effectLst/>
                        </a:rPr>
                        <a:t>PUBLISHED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5393169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5EDD5F-6AB7-C98D-66A4-D6F2DF04E3C7}"/>
              </a:ext>
            </a:extLst>
          </p:cNvPr>
          <p:cNvSpPr txBox="1"/>
          <p:nvPr/>
        </p:nvSpPr>
        <p:spPr>
          <a:xfrm>
            <a:off x="559988" y="6020308"/>
            <a:ext cx="9866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https://github.com/camaraproject/ReleaseManagement/blob/main/documentation/README.md</a:t>
            </a:r>
          </a:p>
        </p:txBody>
      </p:sp>
    </p:spTree>
    <p:extLst>
      <p:ext uri="{BB962C8B-B14F-4D97-AF65-F5344CB8AC3E}">
        <p14:creationId xmlns:p14="http://schemas.microsoft.com/office/powerpoint/2010/main" val="423024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D4D3B-0A9F-7E11-1296-B027A3CC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2C87-0300-E209-42E9-551671607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and next steps for API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B3FAD-1561-03C3-EF81-4787791314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373" y="1871492"/>
            <a:ext cx="10944225" cy="4303064"/>
          </a:xfrm>
        </p:spPr>
        <p:txBody>
          <a:bodyPr/>
          <a:lstStyle/>
          <a:p>
            <a:r>
              <a:rPr lang="en-US" sz="1800" b="1" dirty="0"/>
              <a:t>1. Bulk PRs with release-</a:t>
            </a:r>
            <a:r>
              <a:rPr lang="en-US" sz="1800" b="1" dirty="0" err="1"/>
              <a:t>plan.yaml</a:t>
            </a:r>
            <a:r>
              <a:rPr lang="en-US" sz="1800" b="1" dirty="0"/>
              <a:t> were created in all API repositories last week</a:t>
            </a:r>
          </a:p>
          <a:p>
            <a:pPr lvl="2"/>
            <a:r>
              <a:rPr lang="en-US" sz="1800" dirty="0"/>
              <a:t>merging this PR is the </a:t>
            </a:r>
            <a:r>
              <a:rPr lang="en-US" sz="1800" b="1" u="sng" dirty="0"/>
              <a:t>prerequisite</a:t>
            </a:r>
            <a:r>
              <a:rPr lang="en-US" sz="1800" dirty="0"/>
              <a:t> for being able to integrate the automation workflow to the repository</a:t>
            </a:r>
          </a:p>
          <a:p>
            <a:pPr lvl="2"/>
            <a:r>
              <a:rPr lang="en-US" sz="1800" dirty="0"/>
              <a:t>you can merge the release-</a:t>
            </a:r>
            <a:r>
              <a:rPr lang="en-US" sz="1800" dirty="0" err="1"/>
              <a:t>plan.yaml</a:t>
            </a:r>
            <a:r>
              <a:rPr lang="en-US" sz="1800" dirty="0"/>
              <a:t> for now unchanged (no plan yet), but see below</a:t>
            </a:r>
            <a:endParaRPr lang="en-US" sz="1800" b="1" dirty="0"/>
          </a:p>
          <a:p>
            <a:pPr>
              <a:spcBef>
                <a:spcPts val="1800"/>
              </a:spcBef>
            </a:pPr>
            <a:r>
              <a:rPr lang="en-US" sz="1800" b="1" dirty="0"/>
              <a:t>2. Release automation workflow roll-out to repositories (in waves)</a:t>
            </a:r>
          </a:p>
          <a:p>
            <a:pPr lvl="2"/>
            <a:r>
              <a:rPr lang="en-US" sz="1800" dirty="0"/>
              <a:t>first wave ongoing: beta testing with four voluntary repositories</a:t>
            </a:r>
          </a:p>
          <a:p>
            <a:pPr lvl="2"/>
            <a:r>
              <a:rPr lang="en-US" sz="1800" dirty="0"/>
              <a:t>next wave: roll out to all repositories that </a:t>
            </a:r>
          </a:p>
          <a:p>
            <a:pPr lvl="4"/>
            <a:r>
              <a:rPr lang="en-US" sz="1800" dirty="0"/>
              <a:t>merged the release-</a:t>
            </a:r>
            <a:r>
              <a:rPr lang="en-US" sz="1800" dirty="0" err="1"/>
              <a:t>plan.yaml</a:t>
            </a:r>
            <a:r>
              <a:rPr lang="en-US" sz="1800" dirty="0"/>
              <a:t> AND </a:t>
            </a:r>
          </a:p>
          <a:p>
            <a:pPr lvl="4"/>
            <a:r>
              <a:rPr lang="en-US" sz="1800" dirty="0"/>
              <a:t>have updated it with </a:t>
            </a:r>
            <a:r>
              <a:rPr lang="en-US" sz="1800" b="1" u="sng" dirty="0"/>
              <a:t>planned</a:t>
            </a:r>
            <a:r>
              <a:rPr lang="en-US" sz="1800" dirty="0"/>
              <a:t> next (pre-)release information (independent or Sync26 meta-release)</a:t>
            </a:r>
          </a:p>
          <a:p>
            <a:pPr lvl="4"/>
            <a:r>
              <a:rPr lang="en-US" sz="1800" dirty="0"/>
              <a:t>these repositories will see a </a:t>
            </a:r>
            <a:r>
              <a:rPr lang="en-US" sz="1800" b="1" dirty="0"/>
              <a:t>PR "[bulk] Enable release automation process"</a:t>
            </a:r>
            <a:r>
              <a:rPr lang="en-US" sz="1800" dirty="0"/>
              <a:t>, the description explains the next steps</a:t>
            </a:r>
          </a:p>
          <a:p>
            <a:pPr marL="465750" lvl="1" indent="-285750">
              <a:buFont typeface="Wingdings" panose="05000000000000000000" pitchFamily="2" charset="2"/>
              <a:buChar char="§"/>
            </a:pPr>
            <a:r>
              <a:rPr lang="en-US" sz="1800" dirty="0"/>
              <a:t>further waves will follow for other repositories</a:t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084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CABAF-06FD-944C-F872-324CC331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02" y="130345"/>
            <a:ext cx="10944225" cy="784516"/>
          </a:xfrm>
        </p:spPr>
        <p:txBody>
          <a:bodyPr/>
          <a:lstStyle/>
          <a:p>
            <a:r>
              <a:rPr lang="fr-FR" dirty="0"/>
              <a:t>Q&amp;A</a:t>
            </a:r>
            <a:br>
              <a:rPr lang="fr-FR" dirty="0"/>
            </a:br>
            <a:r>
              <a:rPr lang="fr-FR" dirty="0"/>
              <a:t>how/</a:t>
            </a:r>
            <a:r>
              <a:rPr lang="fr-FR" dirty="0" err="1"/>
              <a:t>when</a:t>
            </a:r>
            <a:r>
              <a:rPr lang="fr-FR" dirty="0"/>
              <a:t> to </a:t>
            </a:r>
            <a:r>
              <a:rPr lang="fr-FR" dirty="0" err="1"/>
              <a:t>cleanup</a:t>
            </a:r>
            <a:r>
              <a:rPr lang="fr-FR" dirty="0"/>
              <a:t> branches or tags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F38D5-C759-79EF-999F-1B3DADD78B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7173" y="1962345"/>
            <a:ext cx="6194027" cy="395605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Branches (and tags)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kept</a:t>
            </a:r>
            <a:r>
              <a:rPr lang="fr-FR" dirty="0"/>
              <a:t> for release </a:t>
            </a:r>
            <a:r>
              <a:rPr lang="fr-FR" dirty="0" err="1"/>
              <a:t>history</a:t>
            </a:r>
            <a:r>
              <a:rPr lang="fr-FR" dirty="0"/>
              <a:t> </a:t>
            </a:r>
            <a:r>
              <a:rPr lang="fr-FR" dirty="0" err="1"/>
              <a:t>reasons</a:t>
            </a:r>
            <a:r>
              <a:rPr lang="fr-FR" dirty="0"/>
              <a:t> are </a:t>
            </a:r>
            <a:r>
              <a:rPr lang="fr-FR" dirty="0" err="1"/>
              <a:t>protected</a:t>
            </a:r>
            <a:r>
              <a:rPr lang="fr-FR" dirty="0"/>
              <a:t> and </a:t>
            </a:r>
            <a:r>
              <a:rPr lang="fr-FR" dirty="0" err="1"/>
              <a:t>cannot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deleted</a:t>
            </a:r>
            <a:r>
              <a:rPr lang="fr-FR" dirty="0"/>
              <a:t>,. For </a:t>
            </a:r>
            <a:r>
              <a:rPr lang="fr-FR" dirty="0" err="1"/>
              <a:t>example</a:t>
            </a:r>
            <a:r>
              <a:rPr lang="fr-FR" dirty="0"/>
              <a:t>, </a:t>
            </a:r>
          </a:p>
          <a:p>
            <a:pPr marL="465750" lvl="1" indent="-285750">
              <a:buFont typeface="Wingdings" panose="05000000000000000000" pitchFamily="2" charset="2"/>
              <a:buChar char="§"/>
            </a:pPr>
            <a:r>
              <a:rPr lang="fr-FR" b="1" dirty="0"/>
              <a:t>PROTECTED BRANCH: no </a:t>
            </a:r>
            <a:r>
              <a:rPr lang="fr-FR" b="1" dirty="0" err="1"/>
              <a:t>deletion</a:t>
            </a:r>
            <a:r>
              <a:rPr lang="fr-FR" b="1" dirty="0"/>
              <a:t> possible</a:t>
            </a:r>
            <a:r>
              <a:rPr lang="fr-FR" dirty="0"/>
              <a:t>: a public release </a:t>
            </a:r>
            <a:r>
              <a:rPr lang="fr-FR" dirty="0" err="1"/>
              <a:t>branch</a:t>
            </a:r>
            <a:r>
              <a:rPr lang="fr-FR" dirty="0"/>
              <a:t> « release/r1.3 »</a:t>
            </a:r>
          </a:p>
          <a:p>
            <a:pPr marL="465750" lvl="1" indent="-285750">
              <a:buFont typeface="Wingdings" panose="05000000000000000000" pitchFamily="2" charset="2"/>
              <a:buChar char="§"/>
            </a:pPr>
            <a:r>
              <a:rPr lang="fr-FR" b="1" dirty="0"/>
              <a:t>BRANCH DELETION: OK</a:t>
            </a:r>
            <a:r>
              <a:rPr lang="fr-FR" dirty="0"/>
              <a:t> for </a:t>
            </a:r>
            <a:r>
              <a:rPr lang="fr-FR" dirty="0" err="1"/>
              <a:t>intermediary</a:t>
            </a:r>
            <a:r>
              <a:rPr lang="fr-FR" dirty="0"/>
              <a:t> branches </a:t>
            </a:r>
          </a:p>
          <a:p>
            <a:pPr marL="847350" lvl="3" indent="-285750">
              <a:buFont typeface="Wingdings" panose="05000000000000000000" pitchFamily="2" charset="2"/>
              <a:buChar char="§"/>
            </a:pPr>
            <a:r>
              <a:rPr lang="fr-FR" dirty="0" err="1"/>
              <a:t>pre</a:t>
            </a:r>
            <a:r>
              <a:rPr lang="fr-FR" dirty="0"/>
              <a:t>-release/</a:t>
            </a:r>
            <a:r>
              <a:rPr lang="fr-FR" dirty="0" err="1"/>
              <a:t>rX.Y</a:t>
            </a:r>
            <a:endParaRPr lang="fr-FR" dirty="0"/>
          </a:p>
          <a:p>
            <a:pPr marL="847350" lvl="3" indent="-285750">
              <a:buFont typeface="Wingdings" panose="05000000000000000000" pitchFamily="2" charset="2"/>
              <a:buChar char="§"/>
            </a:pPr>
            <a:r>
              <a:rPr lang="fr-FR" dirty="0"/>
              <a:t>release-</a:t>
            </a:r>
            <a:r>
              <a:rPr lang="fr-FR" dirty="0" err="1"/>
              <a:t>review</a:t>
            </a:r>
            <a:r>
              <a:rPr lang="fr-FR" dirty="0"/>
              <a:t>/</a:t>
            </a:r>
            <a:r>
              <a:rPr lang="fr-FR" dirty="0" err="1"/>
              <a:t>rX.Y</a:t>
            </a:r>
            <a:r>
              <a:rPr lang="fr-FR" dirty="0"/>
              <a:t>-xxx-</a:t>
            </a:r>
            <a:r>
              <a:rPr lang="fr-FR" dirty="0" err="1"/>
              <a:t>published</a:t>
            </a:r>
            <a:r>
              <a:rPr lang="fr-FR" dirty="0"/>
              <a:t> (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done</a:t>
            </a:r>
            <a:r>
              <a:rPr lang="fr-FR" dirty="0"/>
              <a:t> by automation </a:t>
            </a:r>
            <a:r>
              <a:rPr lang="fr-FR" dirty="0" err="1"/>
              <a:t>later</a:t>
            </a:r>
            <a:r>
              <a:rPr lang="fr-FR" dirty="0"/>
              <a:t>)</a:t>
            </a:r>
          </a:p>
          <a:p>
            <a:pPr marL="847350" lvl="3" indent="-285750">
              <a:buFont typeface="Wingdings" panose="05000000000000000000" pitchFamily="2" charset="2"/>
              <a:buChar char="§"/>
            </a:pPr>
            <a:r>
              <a:rPr lang="fr-FR" dirty="0" err="1"/>
              <a:t>pr</a:t>
            </a:r>
            <a:r>
              <a:rPr lang="fr-FR" dirty="0"/>
              <a:t>-to-main/r1.2 </a:t>
            </a:r>
            <a:r>
              <a:rPr lang="fr-FR" dirty="0" err="1"/>
              <a:t>after</a:t>
            </a:r>
            <a:r>
              <a:rPr lang="fr-FR" dirty="0"/>
              <a:t> PR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merged</a:t>
            </a:r>
            <a:endParaRPr lang="fr-FR" dirty="0"/>
          </a:p>
          <a:p>
            <a:pPr marL="465750" lvl="1" indent="-285750">
              <a:buFont typeface="Wingdings" panose="05000000000000000000" pitchFamily="2" charset="2"/>
              <a:buChar char="§"/>
            </a:pPr>
            <a:r>
              <a:rPr lang="fr-FR" b="1" dirty="0"/>
              <a:t>TAGS: </a:t>
            </a:r>
          </a:p>
          <a:p>
            <a:pPr marL="847350" lvl="3" indent="-285750">
              <a:buFont typeface="Wingdings" panose="05000000000000000000" pitchFamily="2" charset="2"/>
              <a:buChar char="§"/>
            </a:pPr>
            <a:r>
              <a:rPr lang="fr-FR" b="1" dirty="0"/>
              <a:t>release tag </a:t>
            </a:r>
            <a:r>
              <a:rPr lang="fr-FR" b="1" dirty="0" err="1"/>
              <a:t>deletion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not </a:t>
            </a:r>
            <a:r>
              <a:rPr lang="fr-FR" b="1" dirty="0" err="1"/>
              <a:t>allowed</a:t>
            </a:r>
            <a:r>
              <a:rPr lang="fr-FR" dirty="0"/>
              <a:t>, e.g. r1.1</a:t>
            </a:r>
          </a:p>
          <a:p>
            <a:pPr marL="847350" lvl="3" indent="-285750">
              <a:buFont typeface="Wingdings" panose="05000000000000000000" pitchFamily="2" charset="2"/>
              <a:buChar char="§"/>
            </a:pPr>
            <a:r>
              <a:rPr lang="fr-FR" dirty="0" err="1"/>
              <a:t>older</a:t>
            </a:r>
            <a:r>
              <a:rPr lang="fr-FR" dirty="0"/>
              <a:t> snapshot tags </a:t>
            </a:r>
            <a:r>
              <a:rPr lang="fr-FR" dirty="0" err="1"/>
              <a:t>deletion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allowed</a:t>
            </a:r>
            <a:r>
              <a:rPr lang="fr-FR" dirty="0"/>
              <a:t>, e.g. source/r1.1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The </a:t>
            </a:r>
            <a:r>
              <a:rPr lang="fr-FR" dirty="0" err="1"/>
              <a:t>recommended</a:t>
            </a:r>
            <a:r>
              <a:rPr lang="fr-FR" dirty="0"/>
              <a:t> clean-up time for </a:t>
            </a:r>
            <a:r>
              <a:rPr lang="fr-FR" dirty="0" err="1"/>
              <a:t>intermediary</a:t>
            </a:r>
            <a:r>
              <a:rPr lang="fr-FR" dirty="0"/>
              <a:t> branches: </a:t>
            </a:r>
            <a:r>
              <a:rPr lang="fr-FR" dirty="0" err="1"/>
              <a:t>after</a:t>
            </a:r>
            <a:r>
              <a:rPr lang="fr-FR" dirty="0"/>
              <a:t> the public release in the release cycle </a:t>
            </a:r>
            <a:r>
              <a:rPr lang="fr-FR" dirty="0" err="1"/>
              <a:t>rX</a:t>
            </a:r>
            <a:r>
              <a:rPr lang="fr-FR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0DF9E-9ECF-7145-654F-9BBE6E9070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07" r="5445"/>
          <a:stretch>
            <a:fillRect/>
          </a:stretch>
        </p:blipFill>
        <p:spPr>
          <a:xfrm>
            <a:off x="6743764" y="1855433"/>
            <a:ext cx="4104749" cy="278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30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566B094-40C3-D341-70A6-77319CB777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Q&amp;A</a:t>
            </a:r>
          </a:p>
          <a:p>
            <a:endParaRPr lang="de-DE" dirty="0"/>
          </a:p>
          <a:p>
            <a:r>
              <a:rPr lang="de-DE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293454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0"/>
  <p:tag name="ARTICULATE_PROJECT_OPEN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tecon_Master">
  <a:themeElements>
    <a:clrScheme name="2FB8AE">
      <a:dk1>
        <a:srgbClr val="000000"/>
      </a:dk1>
      <a:lt1>
        <a:srgbClr val="FFFFFF"/>
      </a:lt1>
      <a:dk2>
        <a:srgbClr val="404041"/>
      </a:dk2>
      <a:lt2>
        <a:srgbClr val="EEEEEE"/>
      </a:lt2>
      <a:accent1>
        <a:srgbClr val="06C5F8"/>
      </a:accent1>
      <a:accent2>
        <a:srgbClr val="3A9BF3"/>
      </a:accent2>
      <a:accent3>
        <a:srgbClr val="2FB8AE"/>
      </a:accent3>
      <a:accent4>
        <a:srgbClr val="BECA41"/>
      </a:accent4>
      <a:accent5>
        <a:srgbClr val="FDBF11"/>
      </a:accent5>
      <a:accent6>
        <a:srgbClr val="E21075"/>
      </a:accent6>
      <a:hlink>
        <a:srgbClr val="3A9BF3"/>
      </a:hlink>
      <a:folHlink>
        <a:srgbClr val="3A9BF3"/>
      </a:folHlink>
    </a:clrScheme>
    <a:fontScheme name="Detec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0D0D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Gelb Hell">
      <a:srgbClr val="FFDE5D"/>
    </a:custClr>
    <a:custClr name="Gelb Dunkel">
      <a:srgbClr val="DBAD39"/>
    </a:custClr>
    <a:custClr name="Orange Hell">
      <a:srgbClr val="FFB356"/>
    </a:custClr>
    <a:custClr name="Orange Dunkel">
      <a:srgbClr val="D48936"/>
    </a:custClr>
    <a:custClr name="Hellblau Hell">
      <a:srgbClr val="7ECBF5"/>
    </a:custClr>
    <a:custClr name="Hellblau Dunkel">
      <a:srgbClr val="317CB3"/>
    </a:custClr>
    <a:custClr name="Dunkelblau Hell">
      <a:srgbClr val="529AD6"/>
    </a:custClr>
    <a:custClr name="Dunkelblau Dunkel">
      <a:srgbClr val="235482"/>
    </a:custClr>
    <a:custClr name="Petrol Hell">
      <a:srgbClr val="65C8C0"/>
    </a:custClr>
    <a:custClr name="Petrol Dunkel">
      <a:srgbClr val="218076"/>
    </a:custClr>
    <a:custClr name="Grün Hell">
      <a:srgbClr val="CFD873"/>
    </a:custClr>
    <a:custClr name="Grün Dunkel">
      <a:srgbClr val="889130"/>
    </a:custClr>
    <a:custClr name="Schwarz">
      <a:srgbClr val="000000"/>
    </a:custClr>
    <a:custClr name="Grau 38">
      <a:srgbClr val="262626"/>
    </a:custClr>
    <a:custClr name="Grau 5">
      <a:srgbClr val="4B4B4B"/>
    </a:custClr>
    <a:custClr name="Grau 3">
      <a:srgbClr val="6C6C6C"/>
    </a:custClr>
    <a:custClr name="Grau 2">
      <a:srgbClr val="7C7C7C"/>
    </a:custClr>
    <a:custClr name="Grau 1">
      <a:srgbClr val="A4A4A4"/>
    </a:custClr>
    <a:custClr name="Grau 6">
      <a:srgbClr val="D0D0D0"/>
    </a:custClr>
    <a:custClr name="Grau 230">
      <a:srgbClr val="E6E6E6"/>
    </a:custClr>
    <a:custClr name="Grau 4">
      <a:srgbClr val="EDEDED"/>
    </a:custClr>
  </a:custClrLst>
  <a:extLst>
    <a:ext uri="{05A4C25C-085E-4340-85A3-A5531E510DB2}">
      <thm15:themeFamily xmlns:thm15="http://schemas.microsoft.com/office/thememl/2012/main" name="CAMARA Master Template.potx" id="{04A64C77-3702-487F-8FF4-D54C7EDECC02}" vid="{74A7C627-616C-49F6-8964-9251D8F235AF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44AD662EB7A25499208DD4235E5F8D6" ma:contentTypeVersion="16" ma:contentTypeDescription="Ein neues Dokument erstellen." ma:contentTypeScope="" ma:versionID="38c2c29699ff48da406f3f18a670bd34">
  <xsd:schema xmlns:xsd="http://www.w3.org/2001/XMLSchema" xmlns:xs="http://www.w3.org/2001/XMLSchema" xmlns:p="http://schemas.microsoft.com/office/2006/metadata/properties" xmlns:ns2="6126070c-0864-4b03-b2dc-aab5d8c39348" xmlns:ns3="97396690-0b91-46d2-ad5a-06f45914e19c" targetNamespace="http://schemas.microsoft.com/office/2006/metadata/properties" ma:root="true" ma:fieldsID="404cda9ff7a6f2265884b8fbd76166fc" ns2:_="" ns3:_="">
    <xsd:import namespace="6126070c-0864-4b03-b2dc-aab5d8c39348"/>
    <xsd:import namespace="97396690-0b91-46d2-ad5a-06f45914e1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6070c-0864-4b03-b2dc-aab5d8c393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55a6c181-b3a6-4e6d-958a-84db063416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96690-0b91-46d2-ad5a-06f45914e19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e948aa-5406-442d-a9f3-76bef890740c}" ma:internalName="TaxCatchAll" ma:showField="CatchAllData" ma:web="97396690-0b91-46d2-ad5a-06f45914e1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F0326B-7C1A-45A3-8DA0-69177D7DF1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677FE1-723C-482F-8191-BAFB499046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26070c-0864-4b03-b2dc-aab5d8c39348"/>
    <ds:schemaRef ds:uri="97396690-0b91-46d2-ad5a-06f45914e1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Detecon_Master</Template>
  <TotalTime>6645</TotalTime>
  <Words>971</Words>
  <Application>Microsoft Office PowerPoint</Application>
  <PresentationFormat>Custom</PresentationFormat>
  <Paragraphs>147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Montserrat ExtraBold</vt:lpstr>
      <vt:lpstr>Calibri</vt:lpstr>
      <vt:lpstr>Wingdings 2</vt:lpstr>
      <vt:lpstr>Courier New</vt:lpstr>
      <vt:lpstr>Arial</vt:lpstr>
      <vt:lpstr>FlexoSoft</vt:lpstr>
      <vt:lpstr>Montserrat Black</vt:lpstr>
      <vt:lpstr>Montserrat Light</vt:lpstr>
      <vt:lpstr>Montserrat</vt:lpstr>
      <vt:lpstr>Open Sans</vt:lpstr>
      <vt:lpstr>Wingdings</vt:lpstr>
      <vt:lpstr>Detecon_Master</vt:lpstr>
      <vt:lpstr>think-cell Folie</vt:lpstr>
      <vt:lpstr>PowerPoint Presentation</vt:lpstr>
      <vt:lpstr>release-plan.yaml  the baseline for automation</vt:lpstr>
      <vt:lpstr>Release Issue steering the release process</vt:lpstr>
      <vt:lpstr>Release Process in a Nutshell</vt:lpstr>
      <vt:lpstr>Release automation commands Quick guide</vt:lpstr>
      <vt:lpstr>Status and next steps for API Teams</vt:lpstr>
      <vt:lpstr>Q&amp;A how/when to cleanup branches or tags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Damker</dc:creator>
  <cp:lastModifiedBy>Tanja De Groot (Nokia)</cp:lastModifiedBy>
  <cp:revision>8</cp:revision>
  <dcterms:created xsi:type="dcterms:W3CDTF">2025-12-08T19:37:20Z</dcterms:created>
  <dcterms:modified xsi:type="dcterms:W3CDTF">2026-03-09T11:01:09Z</dcterms:modified>
</cp:coreProperties>
</file>